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9" r:id="rId4"/>
    <p:sldId id="260" r:id="rId5"/>
    <p:sldId id="262" r:id="rId6"/>
    <p:sldId id="292" r:id="rId7"/>
    <p:sldId id="263" r:id="rId8"/>
    <p:sldId id="293" r:id="rId9"/>
    <p:sldId id="285" r:id="rId10"/>
    <p:sldId id="288" r:id="rId11"/>
    <p:sldId id="282" r:id="rId12"/>
    <p:sldId id="294" r:id="rId13"/>
    <p:sldId id="295" r:id="rId14"/>
    <p:sldId id="296" r:id="rId15"/>
    <p:sldId id="291" r:id="rId16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Georgia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Georgia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Georgia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Georgia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Georgia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Georgia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Georgia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Georgia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Georgia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CFD9"/>
          </a:solidFill>
        </a:fill>
      </a:tcStyle>
    </a:wholeTbl>
    <a:band2H>
      <a:tcTxStyle/>
      <a:tcStyle>
        <a:tcBdr/>
        <a:fill>
          <a:solidFill>
            <a:srgbClr val="E9E9ED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FCFE0"/>
          </a:solidFill>
        </a:fill>
      </a:tcStyle>
    </a:wholeTbl>
    <a:band2H>
      <a:tcTxStyle/>
      <a:tcStyle>
        <a:tcBdr/>
        <a:fill>
          <a:solidFill>
            <a:srgbClr val="F0E8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DBE5"/>
          </a:solidFill>
        </a:fill>
      </a:tcStyle>
    </a:wholeTbl>
    <a:band2H>
      <a:tcTxStyle/>
      <a:tcStyle>
        <a:tcBdr/>
        <a:fill>
          <a:solidFill>
            <a:srgbClr val="E9EEF2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0"/>
    <p:restoredTop sz="86380" autoAdjust="0"/>
  </p:normalViewPr>
  <p:slideViewPr>
    <p:cSldViewPr snapToGrid="0">
      <p:cViewPr>
        <p:scale>
          <a:sx n="100" d="100"/>
          <a:sy n="100" d="100"/>
        </p:scale>
        <p:origin x="-516" y="4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97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5" name="Shape 11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Georgia"/>
      </a:defRPr>
    </a:lvl1pPr>
    <a:lvl2pPr indent="228600" latinLnBrk="0">
      <a:defRPr sz="1200">
        <a:latin typeface="+mj-lt"/>
        <a:ea typeface="+mj-ea"/>
        <a:cs typeface="+mj-cs"/>
        <a:sym typeface="Georgia"/>
      </a:defRPr>
    </a:lvl2pPr>
    <a:lvl3pPr indent="457200" latinLnBrk="0">
      <a:defRPr sz="1200">
        <a:latin typeface="+mj-lt"/>
        <a:ea typeface="+mj-ea"/>
        <a:cs typeface="+mj-cs"/>
        <a:sym typeface="Georgia"/>
      </a:defRPr>
    </a:lvl3pPr>
    <a:lvl4pPr indent="685800" latinLnBrk="0">
      <a:defRPr sz="1200">
        <a:latin typeface="+mj-lt"/>
        <a:ea typeface="+mj-ea"/>
        <a:cs typeface="+mj-cs"/>
        <a:sym typeface="Georgia"/>
      </a:defRPr>
    </a:lvl4pPr>
    <a:lvl5pPr indent="914400" latinLnBrk="0">
      <a:defRPr sz="1200">
        <a:latin typeface="+mj-lt"/>
        <a:ea typeface="+mj-ea"/>
        <a:cs typeface="+mj-cs"/>
        <a:sym typeface="Georgia"/>
      </a:defRPr>
    </a:lvl5pPr>
    <a:lvl6pPr indent="1143000" latinLnBrk="0">
      <a:defRPr sz="1200">
        <a:latin typeface="+mj-lt"/>
        <a:ea typeface="+mj-ea"/>
        <a:cs typeface="+mj-cs"/>
        <a:sym typeface="Georgia"/>
      </a:defRPr>
    </a:lvl6pPr>
    <a:lvl7pPr indent="1371600" latinLnBrk="0">
      <a:defRPr sz="1200">
        <a:latin typeface="+mj-lt"/>
        <a:ea typeface="+mj-ea"/>
        <a:cs typeface="+mj-cs"/>
        <a:sym typeface="Georgia"/>
      </a:defRPr>
    </a:lvl7pPr>
    <a:lvl8pPr indent="1600200" latinLnBrk="0">
      <a:defRPr sz="1200">
        <a:latin typeface="+mj-lt"/>
        <a:ea typeface="+mj-ea"/>
        <a:cs typeface="+mj-cs"/>
        <a:sym typeface="Georgia"/>
      </a:defRPr>
    </a:lvl8pPr>
    <a:lvl9pPr indent="1828800" latinLnBrk="0">
      <a:defRPr sz="1200">
        <a:latin typeface="+mj-lt"/>
        <a:ea typeface="+mj-ea"/>
        <a:cs typeface="+mj-cs"/>
        <a:sym typeface="Georgia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2"/>
          <p:cNvSpPr/>
          <p:nvPr/>
        </p:nvSpPr>
        <p:spPr>
          <a:xfrm flipV="1">
            <a:off x="5410182" y="3810000"/>
            <a:ext cx="3733820" cy="91087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5" name="Rectangle 23"/>
          <p:cNvSpPr/>
          <p:nvPr/>
        </p:nvSpPr>
        <p:spPr>
          <a:xfrm flipV="1">
            <a:off x="5410200" y="3897010"/>
            <a:ext cx="3733802" cy="192025"/>
          </a:xfrm>
          <a:prstGeom prst="rect">
            <a:avLst/>
          </a:prstGeom>
          <a:solidFill>
            <a:schemeClr val="accent2">
              <a:alpha val="5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" name="Rectangle 24"/>
          <p:cNvSpPr/>
          <p:nvPr/>
        </p:nvSpPr>
        <p:spPr>
          <a:xfrm flipV="1">
            <a:off x="5410200" y="4113388"/>
            <a:ext cx="3733802" cy="12701"/>
          </a:xfrm>
          <a:prstGeom prst="rect">
            <a:avLst/>
          </a:prstGeom>
          <a:solidFill>
            <a:schemeClr val="accent2">
              <a:alpha val="64999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7" name="Rectangle 25"/>
          <p:cNvSpPr/>
          <p:nvPr/>
        </p:nvSpPr>
        <p:spPr>
          <a:xfrm flipV="1">
            <a:off x="5410200" y="4164403"/>
            <a:ext cx="1965961" cy="18289"/>
          </a:xfrm>
          <a:prstGeom prst="rect">
            <a:avLst/>
          </a:prstGeom>
          <a:solidFill>
            <a:schemeClr val="accent2">
              <a:alpha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8" name="Rectangle 26"/>
          <p:cNvSpPr/>
          <p:nvPr/>
        </p:nvSpPr>
        <p:spPr>
          <a:xfrm flipV="1">
            <a:off x="5410200" y="4197793"/>
            <a:ext cx="1965961" cy="12701"/>
          </a:xfrm>
          <a:prstGeom prst="rect">
            <a:avLst/>
          </a:prstGeom>
          <a:solidFill>
            <a:schemeClr val="accent2">
              <a:alpha val="64999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9" name="Rounded Rectangle 29"/>
          <p:cNvSpPr/>
          <p:nvPr/>
        </p:nvSpPr>
        <p:spPr>
          <a:xfrm>
            <a:off x="5410200" y="3962400"/>
            <a:ext cx="3063240" cy="2743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0" name="Rounded Rectangle 30"/>
          <p:cNvSpPr/>
          <p:nvPr/>
        </p:nvSpPr>
        <p:spPr>
          <a:xfrm>
            <a:off x="7376507" y="4060983"/>
            <a:ext cx="1600201" cy="3657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1" name="Rectangle 6"/>
          <p:cNvSpPr/>
          <p:nvPr/>
        </p:nvSpPr>
        <p:spPr>
          <a:xfrm>
            <a:off x="1" y="3649662"/>
            <a:ext cx="9144001" cy="244171"/>
          </a:xfrm>
          <a:prstGeom prst="rect">
            <a:avLst/>
          </a:prstGeom>
          <a:solidFill>
            <a:schemeClr val="accent2">
              <a:alpha val="5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2" name="Rectangle 9"/>
          <p:cNvSpPr/>
          <p:nvPr/>
        </p:nvSpPr>
        <p:spPr>
          <a:xfrm>
            <a:off x="0" y="3675526"/>
            <a:ext cx="9144001" cy="14067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3" name="Rectangle 10"/>
          <p:cNvSpPr/>
          <p:nvPr/>
        </p:nvSpPr>
        <p:spPr>
          <a:xfrm flipV="1">
            <a:off x="6414051" y="3643090"/>
            <a:ext cx="2729951" cy="248433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4" name="Rectangle 18"/>
          <p:cNvSpPr/>
          <p:nvPr/>
        </p:nvSpPr>
        <p:spPr>
          <a:xfrm>
            <a:off x="0" y="-1"/>
            <a:ext cx="9144000" cy="3701702"/>
          </a:xfrm>
          <a:prstGeom prst="rect">
            <a:avLst/>
          </a:prstGeom>
          <a:solidFill>
            <a:srgbClr val="42445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5" name="Title Text"/>
          <p:cNvSpPr txBox="1">
            <a:spLocks noGrp="1"/>
          </p:cNvSpPr>
          <p:nvPr>
            <p:ph type="title"/>
          </p:nvPr>
        </p:nvSpPr>
        <p:spPr>
          <a:xfrm>
            <a:off x="457200" y="2401886"/>
            <a:ext cx="8458200" cy="1470026"/>
          </a:xfrm>
          <a:prstGeom prst="rect">
            <a:avLst/>
          </a:prstGeom>
        </p:spPr>
        <p:txBody>
          <a:bodyPr anchor="b"/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3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3899937"/>
            <a:ext cx="4953000" cy="1752601"/>
          </a:xfrm>
          <a:prstGeom prst="rect">
            <a:avLst/>
          </a:prstGeom>
        </p:spPr>
        <p:txBody>
          <a:bodyPr/>
          <a:lstStyle>
            <a:lvl1pPr marL="0" indent="64007">
              <a:buClrTx/>
              <a:buSzTx/>
              <a:buFontTx/>
              <a:buNone/>
              <a:defRPr sz="2400">
                <a:solidFill>
                  <a:srgbClr val="424456"/>
                </a:solidFill>
              </a:defRPr>
            </a:lvl1pPr>
            <a:lvl2pPr marL="0" indent="457200">
              <a:buClrTx/>
              <a:buSzTx/>
              <a:buFontTx/>
              <a:buNone/>
              <a:defRPr sz="2400">
                <a:solidFill>
                  <a:srgbClr val="424456"/>
                </a:solidFill>
              </a:defRPr>
            </a:lvl2pPr>
            <a:lvl3pPr marL="0" indent="914400">
              <a:buClrTx/>
              <a:buSzTx/>
              <a:buFontTx/>
              <a:buNone/>
              <a:defRPr sz="2400">
                <a:solidFill>
                  <a:srgbClr val="424456"/>
                </a:solidFill>
              </a:defRPr>
            </a:lvl3pPr>
            <a:lvl4pPr marL="0" indent="1371600">
              <a:buClrTx/>
              <a:buSzTx/>
              <a:buFontTx/>
              <a:buNone/>
              <a:defRPr sz="2400">
                <a:solidFill>
                  <a:srgbClr val="424456"/>
                </a:solidFill>
              </a:defRPr>
            </a:lvl4pPr>
            <a:lvl5pPr marL="0" indent="1828800">
              <a:buClrTx/>
              <a:buSzTx/>
              <a:buFontTx/>
              <a:buNone/>
              <a:defRPr sz="2400">
                <a:solidFill>
                  <a:srgbClr val="42445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725125" y="8755"/>
            <a:ext cx="342675" cy="3581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5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Text"/>
          <p:cNvSpPr txBox="1">
            <a:spLocks noGrp="1"/>
          </p:cNvSpPr>
          <p:nvPr>
            <p:ph type="title"/>
          </p:nvPr>
        </p:nvSpPr>
        <p:spPr>
          <a:xfrm>
            <a:off x="722312" y="1981200"/>
            <a:ext cx="7772401" cy="1362075"/>
          </a:xfrm>
          <a:prstGeom prst="rect">
            <a:avLst/>
          </a:prstGeom>
        </p:spPr>
        <p:txBody>
          <a:bodyPr anchor="b"/>
          <a:lstStyle>
            <a:lvl1pPr>
              <a:defRPr sz="4300" b="1">
                <a:ln w="12700" cap="flat">
                  <a:solidFill>
                    <a:srgbClr val="308790"/>
                  </a:solidFill>
                  <a:prstDash val="solid"/>
                  <a:round/>
                </a:ln>
                <a:solidFill>
                  <a:srgbClr val="FFFFFF"/>
                </a:solidFill>
                <a:effectLst>
                  <a:outerShdw blurRad="38100" dist="38100" dir="5400000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t>Title Text</a:t>
            </a:r>
          </a:p>
        </p:txBody>
      </p:sp>
      <p:sp>
        <p:nvSpPr>
          <p:cNvPr id="5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312" y="3367087"/>
            <a:ext cx="7772401" cy="1509713"/>
          </a:xfrm>
          <a:prstGeom prst="rect">
            <a:avLst/>
          </a:prstGeom>
        </p:spPr>
        <p:txBody>
          <a:bodyPr/>
          <a:lstStyle>
            <a:lvl1pPr marL="0" indent="45719">
              <a:buClrTx/>
              <a:buSzTx/>
              <a:buFontTx/>
              <a:buNone/>
              <a:defRPr sz="2100">
                <a:solidFill>
                  <a:srgbClr val="424456"/>
                </a:solidFill>
              </a:defRPr>
            </a:lvl1pPr>
            <a:lvl2pPr marL="0" indent="411480">
              <a:buClrTx/>
              <a:buSzTx/>
              <a:buFontTx/>
              <a:buNone/>
              <a:defRPr sz="2100">
                <a:solidFill>
                  <a:srgbClr val="424456"/>
                </a:solidFill>
              </a:defRPr>
            </a:lvl2pPr>
            <a:lvl3pPr marL="0" indent="704088">
              <a:buClrTx/>
              <a:buSzTx/>
              <a:buFontTx/>
              <a:buNone/>
              <a:defRPr sz="2100">
                <a:solidFill>
                  <a:srgbClr val="424456"/>
                </a:solidFill>
              </a:defRPr>
            </a:lvl3pPr>
            <a:lvl4pPr marL="0" indent="978407">
              <a:buClrTx/>
              <a:buSzTx/>
              <a:buFontTx/>
              <a:buNone/>
              <a:defRPr sz="2100">
                <a:solidFill>
                  <a:srgbClr val="424456"/>
                </a:solidFill>
              </a:defRPr>
            </a:lvl4pPr>
            <a:lvl5pPr marL="0" indent="1207008">
              <a:buClrTx/>
              <a:buSzTx/>
              <a:buFontTx/>
              <a:buNone/>
              <a:defRPr sz="2100">
                <a:solidFill>
                  <a:srgbClr val="42445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57200" y="2249423"/>
            <a:ext cx="4038600" cy="4525964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 marL="671362" indent="-259882">
              <a:defRPr sz="2000"/>
            </a:lvl2pPr>
            <a:lvl3pPr marL="947927" indent="-243839">
              <a:defRPr sz="2000"/>
            </a:lvl3pPr>
            <a:lvl4pPr marL="1201927" indent="-223520">
              <a:defRPr sz="2000"/>
            </a:lvl4pPr>
            <a:lvl5pPr marL="1410208" indent="-203200">
              <a:defRPr sz="20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Text"/>
          <p:cNvSpPr txBox="1"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81000" y="2244969"/>
            <a:ext cx="4041648" cy="457201"/>
          </a:xfrm>
          <a:prstGeom prst="rect">
            <a:avLst/>
          </a:prstGeom>
          <a:solidFill>
            <a:srgbClr val="328E97">
              <a:alpha val="25000"/>
            </a:srgbClr>
          </a:solidFill>
          <a:ln>
            <a:solidFill>
              <a:schemeClr val="accent2"/>
            </a:solidFill>
            <a:round/>
          </a:ln>
        </p:spPr>
        <p:txBody>
          <a:bodyPr anchor="ctr"/>
          <a:lstStyle>
            <a:lvl1pPr marL="0" indent="45719">
              <a:buClrTx/>
              <a:buSzTx/>
              <a:buFontTx/>
              <a:buNone/>
              <a:defRPr sz="1900" b="1">
                <a:solidFill>
                  <a:srgbClr val="414141"/>
                </a:solidFill>
              </a:defRPr>
            </a:lvl1pPr>
            <a:lvl2pPr marL="0" indent="411480">
              <a:buClrTx/>
              <a:buSzTx/>
              <a:buFontTx/>
              <a:buNone/>
              <a:defRPr sz="1900" b="1">
                <a:solidFill>
                  <a:srgbClr val="414141"/>
                </a:solidFill>
              </a:defRPr>
            </a:lvl2pPr>
            <a:lvl3pPr marL="0" indent="704088">
              <a:buClrTx/>
              <a:buSzTx/>
              <a:buFontTx/>
              <a:buNone/>
              <a:defRPr sz="1900" b="1">
                <a:solidFill>
                  <a:srgbClr val="414141"/>
                </a:solidFill>
              </a:defRPr>
            </a:lvl3pPr>
            <a:lvl4pPr marL="0" indent="978407">
              <a:buClrTx/>
              <a:buSzTx/>
              <a:buFontTx/>
              <a:buNone/>
              <a:defRPr sz="1900" b="1">
                <a:solidFill>
                  <a:srgbClr val="414141"/>
                </a:solidFill>
              </a:defRPr>
            </a:lvl4pPr>
            <a:lvl5pPr marL="0" indent="1207008">
              <a:buClrTx/>
              <a:buSzTx/>
              <a:buFontTx/>
              <a:buNone/>
              <a:defRPr sz="1900" b="1">
                <a:solidFill>
                  <a:srgbClr val="414141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3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4721225" y="2244969"/>
            <a:ext cx="4041775" cy="457201"/>
          </a:xfrm>
          <a:prstGeom prst="rect">
            <a:avLst/>
          </a:prstGeom>
          <a:solidFill>
            <a:srgbClr val="328E97">
              <a:alpha val="25000"/>
            </a:srgbClr>
          </a:solidFill>
          <a:ln>
            <a:solidFill>
              <a:schemeClr val="accent2"/>
            </a:solidFill>
            <a:round/>
          </a:ln>
        </p:spPr>
        <p:txBody>
          <a:bodyPr anchor="ctr"/>
          <a:lstStyle/>
          <a:p>
            <a:pPr marL="0" indent="45719">
              <a:buClrTx/>
              <a:buSzTx/>
              <a:buFontTx/>
              <a:buNone/>
              <a:defRPr sz="1900" b="1">
                <a:solidFill>
                  <a:srgbClr val="414141"/>
                </a:solidFill>
              </a:defRPr>
            </a:pPr>
            <a:endParaRPr/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itle Text"/>
          <p:cNvSpPr txBox="1"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8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Text"/>
          <p:cNvSpPr txBox="1">
            <a:spLocks noGrp="1"/>
          </p:cNvSpPr>
          <p:nvPr>
            <p:ph type="title"/>
          </p:nvPr>
        </p:nvSpPr>
        <p:spPr>
          <a:xfrm>
            <a:off x="5353496" y="1101970"/>
            <a:ext cx="3383281" cy="877825"/>
          </a:xfrm>
          <a:prstGeom prst="rect">
            <a:avLst/>
          </a:prstGeom>
        </p:spPr>
        <p:txBody>
          <a:bodyPr anchor="b"/>
          <a:lstStyle>
            <a:lvl1pPr>
              <a:defRPr sz="1800" b="1"/>
            </a:lvl1pPr>
          </a:lstStyle>
          <a:p>
            <a:r>
              <a:t>Title Text</a:t>
            </a:r>
          </a:p>
        </p:txBody>
      </p:sp>
      <p:sp>
        <p:nvSpPr>
          <p:cNvPr id="9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353496" y="2010727"/>
            <a:ext cx="3383281" cy="4617721"/>
          </a:xfrm>
          <a:prstGeom prst="rect">
            <a:avLst/>
          </a:prstGeom>
        </p:spPr>
        <p:txBody>
          <a:bodyPr/>
          <a:lstStyle>
            <a:lvl1pPr marL="0" indent="9144">
              <a:buClrTx/>
              <a:buSzTx/>
              <a:buFontTx/>
              <a:buNone/>
              <a:defRPr sz="1400"/>
            </a:lvl1pPr>
            <a:lvl2pPr marL="0" indent="411480">
              <a:buClrTx/>
              <a:buSzTx/>
              <a:buFontTx/>
              <a:buNone/>
              <a:defRPr sz="1400"/>
            </a:lvl2pPr>
            <a:lvl3pPr marL="0" indent="704088">
              <a:buClrTx/>
              <a:buSzTx/>
              <a:buFontTx/>
              <a:buNone/>
              <a:defRPr sz="1400"/>
            </a:lvl3pPr>
            <a:lvl4pPr marL="0" indent="978407">
              <a:buClrTx/>
              <a:buSzTx/>
              <a:buFontTx/>
              <a:buNone/>
              <a:defRPr sz="1400"/>
            </a:lvl4pPr>
            <a:lvl5pPr marL="0" indent="1207008">
              <a:buClrTx/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itle Text"/>
          <p:cNvSpPr txBox="1">
            <a:spLocks noGrp="1"/>
          </p:cNvSpPr>
          <p:nvPr>
            <p:ph type="title"/>
          </p:nvPr>
        </p:nvSpPr>
        <p:spPr>
          <a:xfrm>
            <a:off x="5440433" y="1109160"/>
            <a:ext cx="586804" cy="4681638"/>
          </a:xfrm>
          <a:prstGeom prst="rect">
            <a:avLst/>
          </a:prstGeom>
        </p:spPr>
        <p:txBody>
          <a:bodyPr lIns="0" tIns="0" rIns="0" bIns="0" anchor="t"/>
          <a:lstStyle>
            <a:lvl1pPr algn="ctr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106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403670" y="1143000"/>
            <a:ext cx="4572001" cy="4572000"/>
          </a:xfrm>
          <a:prstGeom prst="rect">
            <a:avLst/>
          </a:prstGeom>
          <a:ln w="50800">
            <a:solidFill>
              <a:srgbClr val="FFFFFF"/>
            </a:solidFill>
            <a:miter lim="800000"/>
          </a:ln>
          <a:effectLst>
            <a:outerShdw blurRad="63500" dist="31750" dir="4800000" rotWithShape="0">
              <a:srgbClr val="000000">
                <a:alpha val="25000"/>
              </a:srgbClr>
            </a:outerShdw>
          </a:effectLst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0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088443" y="3274307"/>
            <a:ext cx="2590801" cy="25164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buClrTx/>
              <a:buSzTx/>
              <a:buFontTx/>
              <a:buNone/>
              <a:defRPr sz="1300"/>
            </a:lvl1pPr>
            <a:lvl2pPr marL="0" indent="411480">
              <a:spcBef>
                <a:spcPts val="0"/>
              </a:spcBef>
              <a:buClrTx/>
              <a:buSzTx/>
              <a:buFontTx/>
              <a:buNone/>
              <a:defRPr sz="1300"/>
            </a:lvl2pPr>
            <a:lvl3pPr marL="0" indent="704088">
              <a:spcBef>
                <a:spcPts val="0"/>
              </a:spcBef>
              <a:buClrTx/>
              <a:buSzTx/>
              <a:buFontTx/>
              <a:buNone/>
              <a:defRPr sz="1300"/>
            </a:lvl3pPr>
            <a:lvl4pPr marL="0" indent="978407">
              <a:spcBef>
                <a:spcPts val="0"/>
              </a:spcBef>
              <a:buClrTx/>
              <a:buSzTx/>
              <a:buFontTx/>
              <a:buNone/>
              <a:defRPr sz="1300"/>
            </a:lvl4pPr>
            <a:lvl5pPr marL="0" indent="1207008">
              <a:spcBef>
                <a:spcPts val="0"/>
              </a:spcBef>
              <a:buClrTx/>
              <a:buSzTx/>
              <a:buFontTx/>
              <a:buNone/>
              <a:defRPr sz="13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7"/>
          <p:cNvSpPr/>
          <p:nvPr/>
        </p:nvSpPr>
        <p:spPr>
          <a:xfrm>
            <a:off x="1" y="366817"/>
            <a:ext cx="9144001" cy="84408"/>
          </a:xfrm>
          <a:prstGeom prst="rect">
            <a:avLst/>
          </a:prstGeom>
          <a:solidFill>
            <a:schemeClr val="accent2">
              <a:alpha val="5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rgbClr val="42445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" name="Rectangle 29"/>
          <p:cNvSpPr/>
          <p:nvPr/>
        </p:nvSpPr>
        <p:spPr>
          <a:xfrm>
            <a:off x="0" y="308275"/>
            <a:ext cx="9144001" cy="91443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" name="Rectangle 30"/>
          <p:cNvSpPr/>
          <p:nvPr/>
        </p:nvSpPr>
        <p:spPr>
          <a:xfrm flipV="1">
            <a:off x="5410182" y="360246"/>
            <a:ext cx="3733820" cy="9108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" name="Rectangle 31"/>
          <p:cNvSpPr/>
          <p:nvPr/>
        </p:nvSpPr>
        <p:spPr>
          <a:xfrm flipV="1">
            <a:off x="5410200" y="440111"/>
            <a:ext cx="3733802" cy="180036"/>
          </a:xfrm>
          <a:prstGeom prst="rect">
            <a:avLst/>
          </a:prstGeom>
          <a:solidFill>
            <a:schemeClr val="accent2">
              <a:alpha val="5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" name="Rounded Rectangle 32"/>
          <p:cNvSpPr/>
          <p:nvPr/>
        </p:nvSpPr>
        <p:spPr>
          <a:xfrm>
            <a:off x="5407338" y="497503"/>
            <a:ext cx="3063241" cy="2743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" name="Rounded Rectangle 33"/>
          <p:cNvSpPr/>
          <p:nvPr/>
        </p:nvSpPr>
        <p:spPr>
          <a:xfrm>
            <a:off x="7373646" y="588942"/>
            <a:ext cx="1600201" cy="3657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" name="Rectangle 34"/>
          <p:cNvSpPr/>
          <p:nvPr/>
        </p:nvSpPr>
        <p:spPr>
          <a:xfrm>
            <a:off x="9084965" y="-2001"/>
            <a:ext cx="57627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" name="Rectangle 35"/>
          <p:cNvSpPr/>
          <p:nvPr/>
        </p:nvSpPr>
        <p:spPr>
          <a:xfrm>
            <a:off x="9044481" y="-2001"/>
            <a:ext cx="27433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" name="Rectangle 36"/>
          <p:cNvSpPr/>
          <p:nvPr/>
        </p:nvSpPr>
        <p:spPr>
          <a:xfrm>
            <a:off x="9023649" y="-2001"/>
            <a:ext cx="12701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" name="Rectangle 37"/>
          <p:cNvSpPr/>
          <p:nvPr/>
        </p:nvSpPr>
        <p:spPr>
          <a:xfrm>
            <a:off x="8975422" y="-2001"/>
            <a:ext cx="27433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" name="Rectangle 38"/>
          <p:cNvSpPr/>
          <p:nvPr/>
        </p:nvSpPr>
        <p:spPr>
          <a:xfrm>
            <a:off x="8915676" y="379"/>
            <a:ext cx="54865" cy="58521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" name="Rectangle 39"/>
          <p:cNvSpPr/>
          <p:nvPr/>
        </p:nvSpPr>
        <p:spPr>
          <a:xfrm>
            <a:off x="8871696" y="379"/>
            <a:ext cx="12701" cy="585218"/>
          </a:xfrm>
          <a:prstGeom prst="rect">
            <a:avLst/>
          </a:prstGeom>
          <a:solidFill>
            <a:srgbClr val="FFFFFF">
              <a:alpha val="30196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16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2249423"/>
            <a:ext cx="8229600" cy="43251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94061" y="9891"/>
            <a:ext cx="342675" cy="3581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b">
            <a:spAutoFit/>
          </a:bodyPr>
          <a:lstStyle>
            <a:lvl1pPr algn="r"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rgbClr val="424456"/>
          </a:solidFill>
          <a:uFillTx/>
          <a:latin typeface="Trebuchet MS"/>
          <a:ea typeface="Trebuchet MS"/>
          <a:cs typeface="Trebuchet MS"/>
          <a:sym typeface="Trebuchet MS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rgbClr val="424456"/>
          </a:solidFill>
          <a:uFillTx/>
          <a:latin typeface="Trebuchet MS"/>
          <a:ea typeface="Trebuchet MS"/>
          <a:cs typeface="Trebuchet MS"/>
          <a:sym typeface="Trebuchet MS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rgbClr val="424456"/>
          </a:solidFill>
          <a:uFillTx/>
          <a:latin typeface="Trebuchet MS"/>
          <a:ea typeface="Trebuchet MS"/>
          <a:cs typeface="Trebuchet MS"/>
          <a:sym typeface="Trebuchet MS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rgbClr val="424456"/>
          </a:solidFill>
          <a:uFillTx/>
          <a:latin typeface="Trebuchet MS"/>
          <a:ea typeface="Trebuchet MS"/>
          <a:cs typeface="Trebuchet MS"/>
          <a:sym typeface="Trebuchet MS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rgbClr val="424456"/>
          </a:solidFill>
          <a:uFillTx/>
          <a:latin typeface="Trebuchet MS"/>
          <a:ea typeface="Trebuchet MS"/>
          <a:cs typeface="Trebuchet MS"/>
          <a:sym typeface="Trebuchet MS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rgbClr val="424456"/>
          </a:solidFill>
          <a:uFillTx/>
          <a:latin typeface="Trebuchet MS"/>
          <a:ea typeface="Trebuchet MS"/>
          <a:cs typeface="Trebuchet MS"/>
          <a:sym typeface="Trebuchet MS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rgbClr val="424456"/>
          </a:solidFill>
          <a:uFillTx/>
          <a:latin typeface="Trebuchet MS"/>
          <a:ea typeface="Trebuchet MS"/>
          <a:cs typeface="Trebuchet MS"/>
          <a:sym typeface="Trebuchet MS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rgbClr val="424456"/>
          </a:solidFill>
          <a:uFillTx/>
          <a:latin typeface="Trebuchet MS"/>
          <a:ea typeface="Trebuchet MS"/>
          <a:cs typeface="Trebuchet MS"/>
          <a:sym typeface="Trebuchet MS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rgbClr val="424456"/>
          </a:solidFill>
          <a:uFillTx/>
          <a:latin typeface="Trebuchet MS"/>
          <a:ea typeface="Trebuchet MS"/>
          <a:cs typeface="Trebuchet MS"/>
          <a:sym typeface="Trebuchet MS"/>
        </a:defRPr>
      </a:lvl9pPr>
    </p:titleStyle>
    <p:bodyStyle>
      <a:lvl1pPr marL="365759" marR="0" indent="-256031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chemeClr val="accent3"/>
        </a:buClr>
        <a:buSzPct val="100000"/>
        <a:buFont typeface="Georgia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Georgia"/>
        </a:defRPr>
      </a:lvl1pPr>
      <a:lvl2pPr marL="677359" marR="0" indent="-265879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chemeClr val="accent3"/>
        </a:buClr>
        <a:buSzPct val="100000"/>
        <a:buFont typeface="Georgia"/>
        <a:buChar char="▫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Georgia"/>
        </a:defRPr>
      </a:lvl2pPr>
      <a:lvl3pPr marL="960120" marR="0" indent="-256032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chemeClr val="accent3"/>
        </a:buClr>
        <a:buSzPct val="100000"/>
        <a:buFont typeface="Georgia"/>
        <a:buChar char="●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Georgia"/>
        </a:defRPr>
      </a:lvl3pPr>
      <a:lvl4pPr marL="1234439" marR="0" indent="-256032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chemeClr val="accent3"/>
        </a:buClr>
        <a:buSzPct val="100000"/>
        <a:buFont typeface="Georgia"/>
        <a:buChar char="●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Georgia"/>
        </a:defRPr>
      </a:lvl4pPr>
      <a:lvl5pPr marL="1463040" marR="0" indent="-256032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chemeClr val="accent3"/>
        </a:buClr>
        <a:buSzPct val="100000"/>
        <a:buFont typeface="Georgia"/>
        <a:buChar char="▫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Georgia"/>
        </a:defRPr>
      </a:lvl5pPr>
      <a:lvl6pPr marL="1710944" marR="0" indent="-28448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chemeClr val="accent3"/>
        </a:buClr>
        <a:buSzPct val="100000"/>
        <a:buFont typeface="Georgia"/>
        <a:buChar char="▫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Georgia"/>
        </a:defRPr>
      </a:lvl6pPr>
      <a:lvl7pPr marL="1965959" marR="0" indent="-320039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chemeClr val="accent3"/>
        </a:buClr>
        <a:buSzPct val="100000"/>
        <a:buFont typeface="Georgia"/>
        <a:buChar char="▫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Georgia"/>
        </a:defRPr>
      </a:lvl7pPr>
      <a:lvl8pPr marL="2188463" marR="0" indent="-341375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chemeClr val="accent3"/>
        </a:buClr>
        <a:buSzPct val="100000"/>
        <a:buFont typeface="Georgia"/>
        <a:buChar char="◦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Georgia"/>
        </a:defRPr>
      </a:lvl8pPr>
      <a:lvl9pPr marL="2423159" marR="0" indent="-365759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chemeClr val="accent3"/>
        </a:buClr>
        <a:buSzPct val="100000"/>
        <a:buFont typeface="Georgia"/>
        <a:buChar char="◦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Georgi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eorgia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eorgia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eorgia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eorgia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eorgia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eorgia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eorgia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eorgia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eorgi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 1"/>
          <p:cNvSpPr txBox="1">
            <a:spLocks noGrp="1"/>
          </p:cNvSpPr>
          <p:nvPr>
            <p:ph type="ctrTitle"/>
          </p:nvPr>
        </p:nvSpPr>
        <p:spPr>
          <a:xfrm>
            <a:off x="342900" y="1609724"/>
            <a:ext cx="8458200" cy="1724025"/>
          </a:xfrm>
          <a:prstGeom prst="rect">
            <a:avLst/>
          </a:prstGeom>
        </p:spPr>
        <p:txBody>
          <a:bodyPr/>
          <a:lstStyle/>
          <a:p>
            <a:pPr algn="ctr"/>
            <a:r>
              <a:rPr sz="2800" dirty="0" err="1">
                <a:latin typeface="Arial Black" pitchFamily="34" charset="0"/>
              </a:rPr>
              <a:t>VersityHub</a:t>
            </a:r>
            <a:r>
              <a:rPr dirty="0"/>
              <a:t/>
            </a:r>
            <a:br>
              <a:rPr dirty="0"/>
            </a:br>
            <a:r>
              <a:rPr sz="2400" dirty="0">
                <a:solidFill>
                  <a:srgbClr val="FFFF00"/>
                </a:solidFill>
                <a:latin typeface="Arial Black" pitchFamily="34" charset="0"/>
              </a:rPr>
              <a:t>Smart Campus Management System </a:t>
            </a:r>
          </a:p>
        </p:txBody>
      </p:sp>
      <p:sp>
        <p:nvSpPr>
          <p:cNvPr id="118" name="Subtitle 2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         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1D36584-7CE7-789A-CE24-B650108F2EEE}"/>
              </a:ext>
            </a:extLst>
          </p:cNvPr>
          <p:cNvSpPr txBox="1"/>
          <p:nvPr/>
        </p:nvSpPr>
        <p:spPr>
          <a:xfrm>
            <a:off x="4302113" y="4270051"/>
            <a:ext cx="4498987" cy="21698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Georgia"/>
              </a:rPr>
              <a:t>Presented By:</a:t>
            </a:r>
          </a:p>
          <a:p>
            <a:pPr marL="285750" marR="0" indent="-28575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Georgia"/>
              </a:rPr>
              <a:t>Biswadev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Georgia"/>
              </a:rPr>
              <a:t> Biswas(22CSE026)</a:t>
            </a:r>
          </a:p>
          <a:p>
            <a:pPr marL="285750" marR="0" indent="-28575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Georgia"/>
              </a:rPr>
              <a:t>Md. Mahmudul Hasan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Georgia"/>
              </a:rPr>
              <a:t>Niaji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Georgia"/>
              </a:rPr>
              <a:t>(22CSE033)</a:t>
            </a:r>
          </a:p>
          <a:p>
            <a:pPr marL="285750" marR="0" indent="-28575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Georgia"/>
              </a:rPr>
              <a:t>Md.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Georgia"/>
              </a:rPr>
              <a:t>Shafikul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Georgia"/>
              </a:rPr>
              <a:t> Islam(22CSE039)</a:t>
            </a:r>
          </a:p>
          <a:p>
            <a:pPr marL="285750" marR="0" indent="-28575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Georgia"/>
              </a:rPr>
              <a:t>Rafi Shahriar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Georgia"/>
              </a:rPr>
              <a:t>Polok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Georgia"/>
              </a:rPr>
              <a:t>(22CSE041)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algn="ctr"/>
          </a:lstStyle>
          <a:p>
            <a:r>
              <a:rPr sz="2800" dirty="0" err="1">
                <a:latin typeface="Arial Black" pitchFamily="34" charset="0"/>
              </a:rPr>
              <a:t>VersityHub</a:t>
            </a:r>
            <a:endParaRPr sz="2800" dirty="0">
              <a:latin typeface="Arial Black" pitchFamily="34" charset="0"/>
            </a:endParaRPr>
          </a:p>
        </p:txBody>
      </p:sp>
      <p:sp>
        <p:nvSpPr>
          <p:cNvPr id="121" name="Content Placeholder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 dirty="0"/>
          </a:p>
        </p:txBody>
      </p:sp>
      <p:grpSp>
        <p:nvGrpSpPr>
          <p:cNvPr id="124" name="Oval 3"/>
          <p:cNvGrpSpPr/>
          <p:nvPr/>
        </p:nvGrpSpPr>
        <p:grpSpPr>
          <a:xfrm>
            <a:off x="685800" y="3276600"/>
            <a:ext cx="1371600" cy="1143000"/>
            <a:chOff x="0" y="0"/>
            <a:chExt cx="1371600" cy="1143000"/>
          </a:xfrm>
        </p:grpSpPr>
        <p:sp>
          <p:nvSpPr>
            <p:cNvPr id="122" name="Oval"/>
            <p:cNvSpPr/>
            <p:nvPr/>
          </p:nvSpPr>
          <p:spPr>
            <a:xfrm>
              <a:off x="0" y="0"/>
              <a:ext cx="1371600" cy="1143000"/>
            </a:xfrm>
            <a:prstGeom prst="ellipse">
              <a:avLst/>
            </a:prstGeom>
            <a:solidFill>
              <a:schemeClr val="accent1"/>
            </a:solidFill>
            <a:ln w="19050" cap="flat">
              <a:solidFill>
                <a:srgbClr val="3D3D6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>
                  <a:solidFill>
                    <a:srgbClr val="FFFF00"/>
                  </a:solidFill>
                </a:defRPr>
              </a:pPr>
              <a:endParaRPr/>
            </a:p>
          </p:txBody>
        </p:sp>
        <p:sp>
          <p:nvSpPr>
            <p:cNvPr id="123" name="Introduction…"/>
            <p:cNvSpPr txBox="1"/>
            <p:nvPr/>
          </p:nvSpPr>
          <p:spPr>
            <a:xfrm>
              <a:off x="256110" y="170180"/>
              <a:ext cx="859380" cy="8026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sz="1000">
                  <a:solidFill>
                    <a:srgbClr val="FFFF00"/>
                  </a:solidFill>
                </a:defRPr>
              </a:pPr>
              <a:r>
                <a:t>Introduction</a:t>
              </a:r>
              <a:endParaRPr>
                <a:solidFill>
                  <a:srgbClr val="FFFFFF"/>
                </a:solidFill>
              </a:endParaRPr>
            </a:p>
            <a:p>
              <a:pPr algn="ctr">
                <a:defRPr sz="1000">
                  <a:solidFill>
                    <a:srgbClr val="FFFF00"/>
                  </a:solidFill>
                </a:defRPr>
              </a:pPr>
              <a:r>
                <a:t>&amp;</a:t>
              </a:r>
              <a:endParaRPr>
                <a:solidFill>
                  <a:srgbClr val="FFFFFF"/>
                </a:solidFill>
              </a:endParaRPr>
            </a:p>
            <a:p>
              <a:pPr algn="ctr">
                <a:defRPr sz="1000">
                  <a:solidFill>
                    <a:srgbClr val="FFFF00"/>
                  </a:solidFill>
                </a:defRPr>
              </a:pPr>
              <a:r>
                <a:t>Problem Statement</a:t>
              </a:r>
              <a:endParaRPr>
                <a:solidFill>
                  <a:srgbClr val="FFFFFF"/>
                </a:solidFill>
              </a:endParaRPr>
            </a:p>
          </p:txBody>
        </p:sp>
      </p:grpSp>
      <p:grpSp>
        <p:nvGrpSpPr>
          <p:cNvPr id="127" name="Oval 4"/>
          <p:cNvGrpSpPr/>
          <p:nvPr/>
        </p:nvGrpSpPr>
        <p:grpSpPr>
          <a:xfrm>
            <a:off x="2286000" y="3276600"/>
            <a:ext cx="1295400" cy="1143000"/>
            <a:chOff x="0" y="0"/>
            <a:chExt cx="1295400" cy="1143000"/>
          </a:xfrm>
        </p:grpSpPr>
        <p:sp>
          <p:nvSpPr>
            <p:cNvPr id="125" name="Oval"/>
            <p:cNvSpPr/>
            <p:nvPr/>
          </p:nvSpPr>
          <p:spPr>
            <a:xfrm>
              <a:off x="0" y="0"/>
              <a:ext cx="1295400" cy="1143000"/>
            </a:xfrm>
            <a:prstGeom prst="ellipse">
              <a:avLst/>
            </a:prstGeom>
            <a:solidFill>
              <a:schemeClr val="accent1"/>
            </a:solidFill>
            <a:ln w="19050" cap="flat">
              <a:solidFill>
                <a:srgbClr val="3D3D6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000">
                  <a:solidFill>
                    <a:srgbClr val="FFFF00"/>
                  </a:solidFill>
                </a:defRPr>
              </a:pPr>
              <a:endParaRPr/>
            </a:p>
          </p:txBody>
        </p:sp>
        <p:sp>
          <p:nvSpPr>
            <p:cNvPr id="126" name="Proposed Solution"/>
            <p:cNvSpPr txBox="1"/>
            <p:nvPr/>
          </p:nvSpPr>
          <p:spPr>
            <a:xfrm>
              <a:off x="244951" y="386079"/>
              <a:ext cx="805498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000">
                  <a:solidFill>
                    <a:srgbClr val="FFFF00"/>
                  </a:solidFill>
                </a:defRPr>
              </a:lvl1pPr>
            </a:lstStyle>
            <a:p>
              <a:r>
                <a:t>Proposed Solution</a:t>
              </a:r>
            </a:p>
          </p:txBody>
        </p:sp>
      </p:grpSp>
      <p:grpSp>
        <p:nvGrpSpPr>
          <p:cNvPr id="130" name="Oval 5"/>
          <p:cNvGrpSpPr/>
          <p:nvPr/>
        </p:nvGrpSpPr>
        <p:grpSpPr>
          <a:xfrm>
            <a:off x="3886200" y="3276600"/>
            <a:ext cx="1371600" cy="1066800"/>
            <a:chOff x="0" y="0"/>
            <a:chExt cx="1371600" cy="1066800"/>
          </a:xfrm>
        </p:grpSpPr>
        <p:sp>
          <p:nvSpPr>
            <p:cNvPr id="128" name="Oval"/>
            <p:cNvSpPr/>
            <p:nvPr/>
          </p:nvSpPr>
          <p:spPr>
            <a:xfrm>
              <a:off x="0" y="0"/>
              <a:ext cx="1371600" cy="1066800"/>
            </a:xfrm>
            <a:prstGeom prst="ellipse">
              <a:avLst/>
            </a:prstGeom>
            <a:solidFill>
              <a:schemeClr val="accent1"/>
            </a:solidFill>
            <a:ln w="19050" cap="flat">
              <a:solidFill>
                <a:srgbClr val="3D3D6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000">
                  <a:solidFill>
                    <a:srgbClr val="FFFF00"/>
                  </a:solidFill>
                </a:defRPr>
              </a:pPr>
              <a:endParaRPr/>
            </a:p>
          </p:txBody>
        </p:sp>
        <p:sp>
          <p:nvSpPr>
            <p:cNvPr id="129" name="Features…"/>
            <p:cNvSpPr txBox="1"/>
            <p:nvPr/>
          </p:nvSpPr>
          <p:spPr>
            <a:xfrm>
              <a:off x="256110" y="208279"/>
              <a:ext cx="859380" cy="7078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sz="1000">
                  <a:solidFill>
                    <a:srgbClr val="FFFF00"/>
                  </a:solidFill>
                </a:defRPr>
              </a:pPr>
              <a:r>
                <a:rPr lang="en-US" dirty="0" smtClean="0"/>
                <a:t>Market Analysis</a:t>
              </a:r>
            </a:p>
            <a:p>
              <a:pPr algn="ctr">
                <a:defRPr sz="1000">
                  <a:solidFill>
                    <a:srgbClr val="FFFF00"/>
                  </a:solidFill>
                </a:defRPr>
              </a:pPr>
              <a:r>
                <a:rPr lang="en-US" dirty="0" smtClean="0"/>
                <a:t>&amp;</a:t>
              </a:r>
            </a:p>
            <a:p>
              <a:pPr algn="ctr">
                <a:defRPr sz="1000">
                  <a:solidFill>
                    <a:srgbClr val="FFFF00"/>
                  </a:solidFill>
                </a:defRPr>
              </a:pPr>
              <a:r>
                <a:rPr smtClean="0"/>
                <a:t>Features</a:t>
              </a:r>
              <a:endParaRPr>
                <a:solidFill>
                  <a:srgbClr val="FFFFFF"/>
                </a:solidFill>
              </a:endParaRPr>
            </a:p>
          </p:txBody>
        </p:sp>
      </p:grpSp>
      <p:grpSp>
        <p:nvGrpSpPr>
          <p:cNvPr id="133" name="Oval 6"/>
          <p:cNvGrpSpPr/>
          <p:nvPr/>
        </p:nvGrpSpPr>
        <p:grpSpPr>
          <a:xfrm>
            <a:off x="5562600" y="3276600"/>
            <a:ext cx="1371600" cy="1066800"/>
            <a:chOff x="0" y="0"/>
            <a:chExt cx="1371600" cy="1066800"/>
          </a:xfrm>
        </p:grpSpPr>
        <p:sp>
          <p:nvSpPr>
            <p:cNvPr id="131" name="Oval"/>
            <p:cNvSpPr/>
            <p:nvPr/>
          </p:nvSpPr>
          <p:spPr>
            <a:xfrm>
              <a:off x="0" y="0"/>
              <a:ext cx="1371600" cy="1066800"/>
            </a:xfrm>
            <a:prstGeom prst="ellipse">
              <a:avLst/>
            </a:prstGeom>
            <a:solidFill>
              <a:schemeClr val="accent1"/>
            </a:solidFill>
            <a:ln w="19050" cap="flat">
              <a:solidFill>
                <a:srgbClr val="3D3D6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000">
                  <a:solidFill>
                    <a:srgbClr val="FFFF00"/>
                  </a:solidFill>
                </a:defRPr>
              </a:pPr>
              <a:endParaRPr/>
            </a:p>
          </p:txBody>
        </p:sp>
        <p:sp>
          <p:nvSpPr>
            <p:cNvPr id="132" name="System Design…"/>
            <p:cNvSpPr txBox="1"/>
            <p:nvPr/>
          </p:nvSpPr>
          <p:spPr>
            <a:xfrm>
              <a:off x="256110" y="208279"/>
              <a:ext cx="859380" cy="6502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sz="1000">
                  <a:solidFill>
                    <a:srgbClr val="FFFF00"/>
                  </a:solidFill>
                </a:defRPr>
              </a:pPr>
              <a:r>
                <a:t>System Design</a:t>
              </a:r>
              <a:endParaRPr>
                <a:solidFill>
                  <a:srgbClr val="FFFFFF"/>
                </a:solidFill>
              </a:endParaRPr>
            </a:p>
            <a:p>
              <a:pPr algn="ctr">
                <a:defRPr sz="1000">
                  <a:solidFill>
                    <a:srgbClr val="FFFF00"/>
                  </a:solidFill>
                </a:defRPr>
              </a:pPr>
              <a:r>
                <a:t>&amp; </a:t>
              </a:r>
              <a:endParaRPr>
                <a:solidFill>
                  <a:srgbClr val="FFFFFF"/>
                </a:solidFill>
              </a:endParaRPr>
            </a:p>
            <a:p>
              <a:pPr algn="ctr">
                <a:defRPr sz="1000">
                  <a:solidFill>
                    <a:srgbClr val="FFFF00"/>
                  </a:solidFill>
                </a:defRPr>
              </a:pPr>
              <a:r>
                <a:t>Testing</a:t>
              </a:r>
            </a:p>
          </p:txBody>
        </p:sp>
      </p:grpSp>
      <p:grpSp>
        <p:nvGrpSpPr>
          <p:cNvPr id="136" name="Oval 7"/>
          <p:cNvGrpSpPr/>
          <p:nvPr/>
        </p:nvGrpSpPr>
        <p:grpSpPr>
          <a:xfrm>
            <a:off x="7162800" y="3276600"/>
            <a:ext cx="1371600" cy="1066800"/>
            <a:chOff x="0" y="0"/>
            <a:chExt cx="1371600" cy="1066800"/>
          </a:xfrm>
        </p:grpSpPr>
        <p:sp>
          <p:nvSpPr>
            <p:cNvPr id="134" name="Oval"/>
            <p:cNvSpPr/>
            <p:nvPr/>
          </p:nvSpPr>
          <p:spPr>
            <a:xfrm>
              <a:off x="0" y="0"/>
              <a:ext cx="1371600" cy="1066800"/>
            </a:xfrm>
            <a:prstGeom prst="ellipse">
              <a:avLst/>
            </a:prstGeom>
            <a:solidFill>
              <a:schemeClr val="accent1"/>
            </a:solidFill>
            <a:ln w="19050" cap="flat">
              <a:solidFill>
                <a:srgbClr val="3D3D6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000">
                  <a:solidFill>
                    <a:srgbClr val="FFFF00"/>
                  </a:solidFill>
                </a:defRPr>
              </a:pPr>
              <a:endParaRPr/>
            </a:p>
          </p:txBody>
        </p:sp>
        <p:sp>
          <p:nvSpPr>
            <p:cNvPr id="135" name="Budget, Hosting…"/>
            <p:cNvSpPr txBox="1"/>
            <p:nvPr/>
          </p:nvSpPr>
          <p:spPr>
            <a:xfrm>
              <a:off x="256110" y="208279"/>
              <a:ext cx="859380" cy="6502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sz="1000">
                  <a:solidFill>
                    <a:srgbClr val="FFFF00"/>
                  </a:solidFill>
                </a:defRPr>
              </a:pPr>
              <a:r>
                <a:t>Budget, Hosting</a:t>
              </a:r>
              <a:endParaRPr>
                <a:solidFill>
                  <a:srgbClr val="FFFFFF"/>
                </a:solidFill>
              </a:endParaRPr>
            </a:p>
            <a:p>
              <a:pPr algn="ctr">
                <a:defRPr sz="1000">
                  <a:solidFill>
                    <a:srgbClr val="FFFF00"/>
                  </a:solidFill>
                </a:defRPr>
              </a:pPr>
              <a:r>
                <a:t>&amp;</a:t>
              </a:r>
              <a:endParaRPr>
                <a:solidFill>
                  <a:srgbClr val="FFFFFF"/>
                </a:solidFill>
              </a:endParaRPr>
            </a:p>
            <a:p>
              <a:pPr algn="ctr">
                <a:defRPr sz="1000">
                  <a:solidFill>
                    <a:srgbClr val="FFFF00"/>
                  </a:solidFill>
                </a:defRPr>
              </a:pPr>
              <a:r>
                <a:t>Conclusion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r>
              <a:rPr>
                <a:latin typeface="Arial Black" pitchFamily="34" charset="0"/>
              </a:rPr>
              <a:t>Introduction &amp; Problem Statement</a:t>
            </a:r>
          </a:p>
        </p:txBody>
      </p:sp>
      <p:sp>
        <p:nvSpPr>
          <p:cNvPr id="142" name="Content Placeholder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marL="256031" indent="-146304">
              <a:buSzTx/>
              <a:buNone/>
              <a:defRPr sz="1800"/>
            </a:pPr>
            <a:endParaRPr lang="en-US" sz="1400" dirty="0" smtClean="0">
              <a:latin typeface="Arial" pitchFamily="34" charset="0"/>
              <a:cs typeface="Arial" pitchFamily="34" charset="0"/>
            </a:endParaRPr>
          </a:p>
          <a:p>
            <a:pPr marL="256031" indent="-146304">
              <a:buSzTx/>
              <a:buNone/>
              <a:defRPr sz="1800"/>
            </a:pPr>
            <a:endParaRPr lang="en-US" sz="1400" dirty="0" smtClean="0">
              <a:latin typeface="Arial" pitchFamily="34" charset="0"/>
              <a:cs typeface="Arial" pitchFamily="34" charset="0"/>
            </a:endParaRPr>
          </a:p>
          <a:p>
            <a:pPr marL="256031" indent="-146304">
              <a:buSzTx/>
              <a:buNone/>
              <a:defRPr sz="1800"/>
            </a:pPr>
            <a:r>
              <a:rPr sz="1600" smtClean="0">
                <a:latin typeface="Arial" pitchFamily="34" charset="0"/>
                <a:cs typeface="Arial" pitchFamily="34" charset="0"/>
              </a:rPr>
              <a:t>Introduction </a:t>
            </a:r>
            <a:r>
              <a:rPr sz="1600">
                <a:latin typeface="Arial" pitchFamily="34" charset="0"/>
                <a:cs typeface="Arial" pitchFamily="34" charset="0"/>
              </a:rPr>
              <a:t>– What is VersityHub ?</a:t>
            </a:r>
          </a:p>
          <a:p>
            <a:pPr marL="256031" indent="-146304">
              <a:buSzTx/>
              <a:buNone/>
              <a:defRPr sz="1800"/>
            </a:pPr>
            <a:endParaRPr sz="1600">
              <a:latin typeface="Arial" pitchFamily="34" charset="0"/>
              <a:cs typeface="Arial" pitchFamily="34" charset="0"/>
            </a:endParaRPr>
          </a:p>
          <a:p>
            <a:pPr>
              <a:defRPr sz="1800"/>
            </a:pPr>
            <a:r>
              <a:rPr sz="1600">
                <a:latin typeface="Arial" pitchFamily="34" charset="0"/>
                <a:cs typeface="Arial" pitchFamily="34" charset="0"/>
              </a:rPr>
              <a:t>A web based university interaction platform .</a:t>
            </a:r>
          </a:p>
          <a:p>
            <a:pPr>
              <a:defRPr sz="1800"/>
            </a:pPr>
            <a:r>
              <a:rPr sz="1600">
                <a:latin typeface="Arial" pitchFamily="34" charset="0"/>
                <a:cs typeface="Arial" pitchFamily="34" charset="0"/>
              </a:rPr>
              <a:t>Connects students, teachers and administrative departments in one digital space.</a:t>
            </a:r>
          </a:p>
          <a:p>
            <a:pPr>
              <a:defRPr sz="1800"/>
            </a:pPr>
            <a:r>
              <a:rPr sz="1600" smtClean="0">
                <a:latin typeface="Arial" pitchFamily="34" charset="0"/>
                <a:cs typeface="Arial" pitchFamily="34" charset="0"/>
              </a:rPr>
              <a:t>Teachers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 and staff</a:t>
            </a:r>
            <a:r>
              <a:rPr sz="1600" smtClean="0">
                <a:latin typeface="Arial" pitchFamily="34" charset="0"/>
                <a:cs typeface="Arial" pitchFamily="34" charset="0"/>
              </a:rPr>
              <a:t> </a:t>
            </a:r>
            <a:r>
              <a:rPr sz="1600">
                <a:latin typeface="Arial" pitchFamily="34" charset="0"/>
                <a:cs typeface="Arial" pitchFamily="34" charset="0"/>
              </a:rPr>
              <a:t>can book guest house.</a:t>
            </a:r>
          </a:p>
          <a:p>
            <a:pPr>
              <a:defRPr sz="1800"/>
            </a:pPr>
            <a:r>
              <a:rPr sz="1600">
                <a:latin typeface="Arial" pitchFamily="34" charset="0"/>
                <a:cs typeface="Arial" pitchFamily="34" charset="0"/>
              </a:rPr>
              <a:t>Student and teacher can book conference room.</a:t>
            </a:r>
          </a:p>
          <a:p>
            <a:pPr>
              <a:defRPr sz="1800"/>
            </a:pPr>
            <a:r>
              <a:rPr sz="1600" smtClean="0">
                <a:latin typeface="Arial" pitchFamily="34" charset="0"/>
                <a:cs typeface="Arial" pitchFamily="34" charset="0"/>
              </a:rPr>
              <a:t>Student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 and teacher</a:t>
            </a:r>
            <a:r>
              <a:rPr sz="1600" smtClean="0">
                <a:latin typeface="Arial" pitchFamily="34" charset="0"/>
                <a:cs typeface="Arial" pitchFamily="34" charset="0"/>
              </a:rPr>
              <a:t> </a:t>
            </a:r>
            <a:r>
              <a:rPr sz="1600">
                <a:latin typeface="Arial" pitchFamily="34" charset="0"/>
                <a:cs typeface="Arial" pitchFamily="34" charset="0"/>
              </a:rPr>
              <a:t>can book field.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r>
              <a:rPr smtClean="0"/>
              <a:t> </a:t>
            </a:r>
            <a:r>
              <a:rPr>
                <a:latin typeface="Arial Black" pitchFamily="34" charset="0"/>
              </a:rPr>
              <a:t>Problem Statement</a:t>
            </a:r>
          </a:p>
        </p:txBody>
      </p:sp>
      <p:sp>
        <p:nvSpPr>
          <p:cNvPr id="145" name="Content Placeholder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  <a:defRPr sz="1800"/>
            </a:pPr>
            <a:endParaRPr dirty="0"/>
          </a:p>
          <a:p>
            <a:pPr>
              <a:defRPr sz="1800"/>
            </a:pPr>
            <a:r>
              <a:rPr lang="en-US" sz="1600" dirty="0" smtClean="0">
                <a:latin typeface="Arial" pitchFamily="34" charset="0"/>
                <a:cs typeface="Arial" pitchFamily="34" charset="0"/>
              </a:rPr>
              <a:t> </a:t>
            </a:r>
            <a:r>
              <a:rPr sz="1600" smtClean="0">
                <a:latin typeface="Arial" pitchFamily="34" charset="0"/>
                <a:cs typeface="Arial" pitchFamily="34" charset="0"/>
              </a:rPr>
              <a:t>Manual </a:t>
            </a:r>
            <a:r>
              <a:rPr sz="1600" dirty="0">
                <a:latin typeface="Arial" pitchFamily="34" charset="0"/>
                <a:cs typeface="Arial" pitchFamily="34" charset="0"/>
              </a:rPr>
              <a:t>booking system</a:t>
            </a:r>
          </a:p>
          <a:p>
            <a:pPr>
              <a:defRPr sz="1800"/>
            </a:pPr>
            <a:r>
              <a:rPr sz="1600" dirty="0">
                <a:latin typeface="Arial" pitchFamily="34" charset="0"/>
                <a:cs typeface="Arial" pitchFamily="34" charset="0"/>
              </a:rPr>
              <a:t>Paper based applications</a:t>
            </a:r>
          </a:p>
          <a:p>
            <a:pPr>
              <a:defRPr sz="1800"/>
            </a:pPr>
            <a:r>
              <a:rPr sz="1600" dirty="0">
                <a:latin typeface="Arial" pitchFamily="34" charset="0"/>
                <a:cs typeface="Arial" pitchFamily="34" charset="0"/>
              </a:rPr>
              <a:t>Lack of transparency</a:t>
            </a:r>
          </a:p>
          <a:p>
            <a:pPr>
              <a:defRPr sz="1800"/>
            </a:pPr>
            <a:r>
              <a:rPr sz="1600" dirty="0">
                <a:latin typeface="Arial" pitchFamily="34" charset="0"/>
                <a:cs typeface="Arial" pitchFamily="34" charset="0"/>
              </a:rPr>
              <a:t>Double booking issues</a:t>
            </a:r>
          </a:p>
          <a:p>
            <a:pPr>
              <a:defRPr sz="1800"/>
            </a:pPr>
            <a:r>
              <a:rPr sz="1600" dirty="0">
                <a:latin typeface="Arial" pitchFamily="34" charset="0"/>
                <a:cs typeface="Arial" pitchFamily="34" charset="0"/>
              </a:rPr>
              <a:t>Time consuming administrative process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r>
              <a:rPr>
                <a:latin typeface="Arial Black" pitchFamily="34" charset="0"/>
              </a:rPr>
              <a:t>Proposed Solution</a:t>
            </a:r>
          </a:p>
        </p:txBody>
      </p:sp>
      <p:sp>
        <p:nvSpPr>
          <p:cNvPr id="149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647700" y="2371887"/>
            <a:ext cx="7899400" cy="432511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56031" indent="-146304">
              <a:buSzTx/>
              <a:buNone/>
              <a:defRPr sz="1800"/>
            </a:pPr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pPr marL="256031" indent="-146304">
              <a:buSzTx/>
              <a:buNone/>
              <a:defRPr sz="1800"/>
            </a:pPr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pPr marL="256031" indent="-146304">
              <a:buSzTx/>
              <a:buNone/>
              <a:defRPr sz="1800"/>
            </a:pPr>
            <a:r>
              <a:rPr sz="1600" smtClean="0">
                <a:latin typeface="Arial" pitchFamily="34" charset="0"/>
                <a:cs typeface="Arial" pitchFamily="34" charset="0"/>
              </a:rPr>
              <a:t>Our </a:t>
            </a:r>
            <a:r>
              <a:rPr sz="1600" dirty="0">
                <a:latin typeface="Arial" pitchFamily="34" charset="0"/>
                <a:cs typeface="Arial" pitchFamily="34" charset="0"/>
              </a:rPr>
              <a:t>system provides: </a:t>
            </a:r>
          </a:p>
          <a:p>
            <a:pPr>
              <a:defRPr sz="1800"/>
            </a:pPr>
            <a:r>
              <a:rPr sz="1600" smtClean="0">
                <a:latin typeface="Arial" pitchFamily="34" charset="0"/>
                <a:cs typeface="Arial" pitchFamily="34" charset="0"/>
              </a:rPr>
              <a:t>Online </a:t>
            </a:r>
            <a:r>
              <a:rPr sz="1600" dirty="0">
                <a:latin typeface="Arial" pitchFamily="34" charset="0"/>
                <a:cs typeface="Arial" pitchFamily="34" charset="0"/>
              </a:rPr>
              <a:t>booking system</a:t>
            </a:r>
          </a:p>
          <a:p>
            <a:pPr>
              <a:defRPr sz="1800"/>
            </a:pPr>
            <a:r>
              <a:rPr sz="1600" dirty="0">
                <a:latin typeface="Arial" pitchFamily="34" charset="0"/>
                <a:cs typeface="Arial" pitchFamily="34" charset="0"/>
              </a:rPr>
              <a:t>Real-time availability checking</a:t>
            </a:r>
          </a:p>
          <a:p>
            <a:pPr>
              <a:defRPr sz="1800"/>
            </a:pPr>
            <a:r>
              <a:rPr sz="1600" dirty="0">
                <a:latin typeface="Arial" pitchFamily="34" charset="0"/>
                <a:cs typeface="Arial" pitchFamily="34" charset="0"/>
              </a:rPr>
              <a:t>Automated approval workflow</a:t>
            </a:r>
          </a:p>
          <a:p>
            <a:pPr>
              <a:defRPr sz="1800"/>
            </a:pPr>
            <a:r>
              <a:rPr sz="1600" dirty="0">
                <a:latin typeface="Arial" pitchFamily="34" charset="0"/>
                <a:cs typeface="Arial" pitchFamily="34" charset="0"/>
              </a:rPr>
              <a:t>Centralized database management</a:t>
            </a:r>
          </a:p>
          <a:p>
            <a:pPr>
              <a:defRPr sz="1800"/>
            </a:pPr>
            <a:r>
              <a:rPr sz="1600" dirty="0">
                <a:latin typeface="Arial" pitchFamily="34" charset="0"/>
                <a:cs typeface="Arial" pitchFamily="34" charset="0"/>
              </a:rPr>
              <a:t>Role-based secure access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 smtClean="0">
                <a:latin typeface="Arial Black" pitchFamily="34" charset="0"/>
              </a:rPr>
              <a:t>Market Analysis</a:t>
            </a:r>
            <a:endParaRPr lang="en-US" sz="2800" dirty="0">
              <a:latin typeface="Arial Black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Target Market</a:t>
            </a:r>
          </a:p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Universities and Colleges </a:t>
            </a:r>
          </a:p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Educational Institutions with campus facilities </a:t>
            </a:r>
          </a:p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Administrative Offices managing campus resources </a:t>
            </a:r>
            <a:br>
              <a:rPr lang="en-US" sz="1600" dirty="0" smtClean="0">
                <a:latin typeface="Arial" pitchFamily="34" charset="0"/>
                <a:cs typeface="Arial" pitchFamily="34" charset="0"/>
              </a:rPr>
            </a:br>
            <a:r>
              <a:rPr lang="en-US" sz="1600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sz="1600" dirty="0" smtClean="0">
                <a:latin typeface="Arial" pitchFamily="34" charset="0"/>
                <a:cs typeface="Arial" pitchFamily="34" charset="0"/>
              </a:rPr>
            </a:br>
            <a:r>
              <a:rPr lang="en-US" sz="1600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sz="1600" dirty="0" smtClean="0">
                <a:latin typeface="Arial" pitchFamily="34" charset="0"/>
                <a:cs typeface="Arial" pitchFamily="34" charset="0"/>
              </a:rPr>
            </a:br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r>
              <a:rPr>
                <a:latin typeface="Arial Black" pitchFamily="34" charset="0"/>
              </a:rPr>
              <a:t>Key Features</a:t>
            </a:r>
          </a:p>
        </p:txBody>
      </p:sp>
      <p:sp>
        <p:nvSpPr>
          <p:cNvPr id="152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69901" y="2094301"/>
            <a:ext cx="8242299" cy="4325113"/>
          </a:xfrm>
          <a:prstGeom prst="rect">
            <a:avLst/>
          </a:prstGeom>
        </p:spPr>
        <p:txBody>
          <a:bodyPr/>
          <a:lstStyle/>
          <a:p>
            <a:endParaRPr/>
          </a:p>
          <a:p>
            <a:pPr>
              <a:defRPr sz="1800"/>
            </a:pPr>
            <a:r>
              <a:t>Secure login system</a:t>
            </a:r>
          </a:p>
          <a:p>
            <a:pPr>
              <a:defRPr sz="1800"/>
            </a:pPr>
            <a:r>
              <a:t>Role-based dashboard</a:t>
            </a:r>
          </a:p>
          <a:p>
            <a:pPr>
              <a:defRPr sz="1800"/>
            </a:pPr>
            <a:r>
              <a:t>Real-time booking status</a:t>
            </a:r>
          </a:p>
          <a:p>
            <a:pPr>
              <a:defRPr sz="1800"/>
            </a:pPr>
            <a:r>
              <a:t>Booking history tracking</a:t>
            </a:r>
          </a:p>
          <a:p>
            <a:pPr>
              <a:defRPr sz="1800"/>
            </a:pPr>
            <a:r>
              <a:t> Admin approval system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 smtClean="0">
                <a:latin typeface="Arial Black" pitchFamily="34" charset="0"/>
              </a:rPr>
              <a:t>System Design</a:t>
            </a:r>
            <a:endParaRPr lang="en-US" sz="2800" dirty="0">
              <a:latin typeface="Arial Black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Development Workflow</a:t>
            </a:r>
          </a:p>
          <a:p>
            <a:pPr>
              <a:buNone/>
            </a:pPr>
            <a:endParaRPr lang="en-US" sz="2000" b="1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2000" b="1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2000" b="1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dirty="0" smtClean="0">
                <a:latin typeface="Arial" pitchFamily="34" charset="0"/>
                <a:cs typeface="Arial" pitchFamily="34" charset="0"/>
              </a:rPr>
              <a:t>Iterative approach ensuring quality at every stage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7700" y="2809875"/>
            <a:ext cx="2771775" cy="584773"/>
          </a:xfrm>
          <a:prstGeom prst="rect">
            <a:avLst/>
          </a:prstGeom>
          <a:solidFill>
            <a:schemeClr val="bg2"/>
          </a:solidFill>
          <a:ln w="19050" cap="flat">
            <a:solidFill>
              <a:schemeClr val="accent1"/>
            </a:solidFill>
            <a:prstDash val="solid"/>
            <a:round/>
          </a:ln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AGILE 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DEVELOPMENT</a:t>
            </a: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rgbClr val="FFFF00"/>
              </a:solidFill>
              <a:effectLst/>
              <a:uFillTx/>
              <a:latin typeface="Arial" pitchFamily="34" charset="0"/>
              <a:cs typeface="Arial" pitchFamily="34" charset="0"/>
              <a:sym typeface="Georgia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23900" y="4210050"/>
            <a:ext cx="1000125" cy="30646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19050" cap="flat">
            <a:solidFill>
              <a:schemeClr val="accent1"/>
            </a:solidFill>
            <a:prstDash val="solid"/>
            <a:round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itchFamily="34" charset="0"/>
                <a:cs typeface="Arial" pitchFamily="34" charset="0"/>
                <a:sym typeface="Georgia"/>
              </a:rPr>
              <a:t>PLAN</a:t>
            </a: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itchFamily="34" charset="0"/>
              <a:cs typeface="Arial" pitchFamily="34" charset="0"/>
              <a:sym typeface="Georgia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981200" y="4219575"/>
            <a:ext cx="1019175" cy="30646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19050" cap="flat">
            <a:solidFill>
              <a:schemeClr val="accent1"/>
            </a:solidFill>
            <a:prstDash val="solid"/>
            <a:rou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algn="ctr"/>
            <a:r>
              <a:rPr lang="en-US" sz="1200" b="1" dirty="0" smtClean="0">
                <a:latin typeface="Arial" pitchFamily="34" charset="0"/>
                <a:cs typeface="Arial" pitchFamily="34" charset="0"/>
              </a:rPr>
              <a:t>DESIGN</a:t>
            </a:r>
            <a:endParaRPr lang="en-US" sz="1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257550" y="4229100"/>
            <a:ext cx="1047750" cy="30646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19050" cap="flat">
            <a:solidFill>
              <a:schemeClr val="accent1"/>
            </a:solidFill>
            <a:prstDash val="solid"/>
            <a:rou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algn="ctr"/>
            <a:r>
              <a:rPr lang="en-US" sz="1200" b="1" dirty="0" smtClean="0">
                <a:latin typeface="Arial" pitchFamily="34" charset="0"/>
                <a:cs typeface="Arial" pitchFamily="34" charset="0"/>
              </a:rPr>
              <a:t>DEVELOP</a:t>
            </a:r>
            <a:endParaRPr lang="en-US" sz="1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562475" y="4229100"/>
            <a:ext cx="1047750" cy="30646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19050" cap="flat">
            <a:solidFill>
              <a:schemeClr val="accent1"/>
            </a:solidFill>
            <a:prstDash val="solid"/>
            <a:rou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itchFamily="34" charset="0"/>
                <a:cs typeface="Arial" pitchFamily="34" charset="0"/>
                <a:sym typeface="Georgia"/>
              </a:rPr>
              <a:t>TEST</a:t>
            </a: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itchFamily="34" charset="0"/>
              <a:cs typeface="Arial" pitchFamily="34" charset="0"/>
              <a:sym typeface="Georgia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905500" y="4238625"/>
            <a:ext cx="1047750" cy="30646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19050" cap="flat">
            <a:solidFill>
              <a:schemeClr val="accent1"/>
            </a:solidFill>
            <a:prstDash val="solid"/>
            <a:rou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itchFamily="34" charset="0"/>
                <a:cs typeface="Arial" pitchFamily="34" charset="0"/>
                <a:sym typeface="Georgia"/>
              </a:rPr>
              <a:t>DEPLOY</a:t>
            </a: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itchFamily="34" charset="0"/>
              <a:cs typeface="Arial" pitchFamily="34" charset="0"/>
              <a:sym typeface="Georgia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248525" y="4219575"/>
            <a:ext cx="1047750" cy="30646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19050" cap="flat">
            <a:solidFill>
              <a:schemeClr val="accent1"/>
            </a:solidFill>
            <a:prstDash val="solid"/>
            <a:rou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itchFamily="34" charset="0"/>
                <a:cs typeface="Arial" pitchFamily="34" charset="0"/>
                <a:sym typeface="Georgia"/>
              </a:rPr>
              <a:t>LAUNCH</a:t>
            </a: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itchFamily="34" charset="0"/>
              <a:cs typeface="Arial" pitchFamily="34" charset="0"/>
              <a:sym typeface="Georgia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itle 1"/>
          <p:cNvSpPr txBox="1">
            <a:spLocks noGrp="1"/>
          </p:cNvSpPr>
          <p:nvPr>
            <p:ph type="title"/>
          </p:nvPr>
        </p:nvSpPr>
        <p:spPr>
          <a:xfrm>
            <a:off x="431800" y="914400"/>
            <a:ext cx="8305800" cy="10668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sz="2800" dirty="0">
                <a:latin typeface="Arial Black" pitchFamily="34" charset="0"/>
              </a:rPr>
              <a:t>System Architecture Overview</a:t>
            </a:r>
          </a:p>
        </p:txBody>
      </p:sp>
      <p:sp>
        <p:nvSpPr>
          <p:cNvPr id="9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571500" y="2332037"/>
            <a:ext cx="80645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r>
              <a:rPr sz="1600" smtClean="0">
                <a:latin typeface="Arial" pitchFamily="34" charset="0"/>
                <a:cs typeface="Arial" pitchFamily="34" charset="0"/>
              </a:rPr>
              <a:t>Client–Server </a:t>
            </a:r>
            <a:r>
              <a:rPr sz="1600" dirty="0">
                <a:latin typeface="Arial" pitchFamily="34" charset="0"/>
                <a:cs typeface="Arial" pitchFamily="34" charset="0"/>
              </a:rPr>
              <a:t>Architecture</a:t>
            </a:r>
          </a:p>
          <a:p>
            <a:r>
              <a:rPr sz="1600" dirty="0">
                <a:latin typeface="Arial" pitchFamily="34" charset="0"/>
                <a:cs typeface="Arial" pitchFamily="34" charset="0"/>
              </a:rPr>
              <a:t>Frontend: HTML, CSS, JavaScript</a:t>
            </a:r>
          </a:p>
          <a:p>
            <a:r>
              <a:rPr sz="1600" dirty="0">
                <a:latin typeface="Arial" pitchFamily="34" charset="0"/>
                <a:cs typeface="Arial" pitchFamily="34" charset="0"/>
              </a:rPr>
              <a:t>Backend: PHP Application Server</a:t>
            </a:r>
          </a:p>
          <a:p>
            <a:r>
              <a:rPr sz="1600" dirty="0">
                <a:latin typeface="Arial" pitchFamily="34" charset="0"/>
                <a:cs typeface="Arial" pitchFamily="34" charset="0"/>
              </a:rPr>
              <a:t>Database: MySQL Centralized Database</a:t>
            </a:r>
          </a:p>
          <a:p>
            <a:r>
              <a:rPr sz="1600" dirty="0">
                <a:latin typeface="Arial" pitchFamily="34" charset="0"/>
                <a:cs typeface="Arial" pitchFamily="34" charset="0"/>
              </a:rPr>
              <a:t>Role-Based Access Control</a:t>
            </a:r>
          </a:p>
          <a:p>
            <a:r>
              <a:rPr sz="1600" dirty="0">
                <a:latin typeface="Arial" pitchFamily="34" charset="0"/>
                <a:cs typeface="Arial" pitchFamily="34" charset="0"/>
              </a:rPr>
              <a:t>Cloud Hosting Environment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1"/>
          <p:cNvSpPr txBox="1">
            <a:spLocks noGrp="1"/>
          </p:cNvSpPr>
          <p:nvPr>
            <p:ph type="title"/>
          </p:nvPr>
        </p:nvSpPr>
        <p:spPr>
          <a:xfrm>
            <a:off x="710293" y="996043"/>
            <a:ext cx="8229600" cy="10668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sz="2800">
                <a:latin typeface="Arial Black" pitchFamily="34" charset="0"/>
              </a:rPr>
              <a:t>Security Design</a:t>
            </a:r>
          </a:p>
        </p:txBody>
      </p:sp>
      <p:sp>
        <p:nvSpPr>
          <p:cNvPr id="107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612322" y="2332037"/>
            <a:ext cx="8099878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r>
              <a:rPr sz="1600" smtClean="0">
                <a:latin typeface="Arial" pitchFamily="34" charset="0"/>
                <a:cs typeface="Arial" pitchFamily="34" charset="0"/>
              </a:rPr>
              <a:t>Encrypted </a:t>
            </a:r>
            <a:r>
              <a:rPr sz="1600">
                <a:latin typeface="Arial" pitchFamily="34" charset="0"/>
                <a:cs typeface="Arial" pitchFamily="34" charset="0"/>
              </a:rPr>
              <a:t>password storage</a:t>
            </a:r>
          </a:p>
          <a:p>
            <a:r>
              <a:rPr sz="1600">
                <a:latin typeface="Arial" pitchFamily="34" charset="0"/>
                <a:cs typeface="Arial" pitchFamily="34" charset="0"/>
              </a:rPr>
              <a:t>Role-based authorization</a:t>
            </a:r>
          </a:p>
          <a:p>
            <a:r>
              <a:rPr sz="1600">
                <a:latin typeface="Arial" pitchFamily="34" charset="0"/>
                <a:cs typeface="Arial" pitchFamily="34" charset="0"/>
              </a:rPr>
              <a:t>Input validation &amp; SQL injection prevention</a:t>
            </a:r>
          </a:p>
          <a:p>
            <a:r>
              <a:rPr sz="1600">
                <a:latin typeface="Arial" pitchFamily="34" charset="0"/>
                <a:cs typeface="Arial" pitchFamily="34" charset="0"/>
              </a:rPr>
              <a:t>Secure session management</a:t>
            </a:r>
          </a:p>
          <a:p>
            <a:r>
              <a:rPr sz="1600">
                <a:latin typeface="Arial" pitchFamily="34" charset="0"/>
                <a:cs typeface="Arial" pitchFamily="34" charset="0"/>
              </a:rPr>
              <a:t>Regular database backup &amp; monitoring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Title 1"/>
          <p:cNvSpPr txBox="1">
            <a:spLocks noGrp="1"/>
          </p:cNvSpPr>
          <p:nvPr>
            <p:ph type="title" idx="4294967295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sz="2800">
                <a:latin typeface="Arial Black" pitchFamily="34" charset="0"/>
                <a:cs typeface="Arial" pitchFamily="34" charset="0"/>
              </a:rPr>
              <a:t>Final Budget Summary</a:t>
            </a:r>
          </a:p>
        </p:txBody>
      </p:sp>
      <p:sp>
        <p:nvSpPr>
          <p:cNvPr id="251" name="Content Placeholder 2"/>
          <p:cNvSpPr txBox="1">
            <a:spLocks noGrp="1"/>
          </p:cNvSpPr>
          <p:nvPr>
            <p:ph type="body" idx="4294967295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r>
              <a:rPr sz="1600" smtClean="0">
                <a:latin typeface="Arial" pitchFamily="34" charset="0"/>
                <a:cs typeface="Arial" pitchFamily="34" charset="0"/>
              </a:rPr>
              <a:t>Human </a:t>
            </a:r>
            <a:r>
              <a:rPr sz="1600" dirty="0">
                <a:latin typeface="Arial" pitchFamily="34" charset="0"/>
                <a:cs typeface="Arial" pitchFamily="34" charset="0"/>
              </a:rPr>
              <a:t>Resources</a:t>
            </a:r>
            <a:r>
              <a:rPr sz="1600">
                <a:latin typeface="Arial" pitchFamily="34" charset="0"/>
                <a:cs typeface="Arial" pitchFamily="34" charset="0"/>
              </a:rPr>
              <a:t>: 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4,</a:t>
            </a:r>
            <a:r>
              <a:rPr sz="1600" smtClean="0">
                <a:latin typeface="Arial" pitchFamily="34" charset="0"/>
                <a:cs typeface="Arial" pitchFamily="34" charset="0"/>
              </a:rPr>
              <a:t>50,000 </a:t>
            </a:r>
            <a:r>
              <a:rPr sz="1600" dirty="0">
                <a:latin typeface="Arial" pitchFamily="34" charset="0"/>
                <a:cs typeface="Arial" pitchFamily="34" charset="0"/>
              </a:rPr>
              <a:t>BDT</a:t>
            </a:r>
          </a:p>
          <a:p>
            <a:r>
              <a:rPr sz="1600" dirty="0">
                <a:latin typeface="Arial" pitchFamily="34" charset="0"/>
                <a:cs typeface="Arial" pitchFamily="34" charset="0"/>
              </a:rPr>
              <a:t>Tools &amp; Software</a:t>
            </a:r>
            <a:r>
              <a:rPr sz="1600">
                <a:latin typeface="Arial" pitchFamily="34" charset="0"/>
                <a:cs typeface="Arial" pitchFamily="34" charset="0"/>
              </a:rPr>
              <a:t>: </a:t>
            </a:r>
            <a:r>
              <a:rPr sz="1600" smtClean="0">
                <a:latin typeface="Arial" pitchFamily="34" charset="0"/>
                <a:cs typeface="Arial" pitchFamily="34" charset="0"/>
              </a:rPr>
              <a:t>1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,20</a:t>
            </a:r>
            <a:r>
              <a:rPr sz="1600" smtClean="0">
                <a:latin typeface="Arial" pitchFamily="34" charset="0"/>
                <a:cs typeface="Arial" pitchFamily="34" charset="0"/>
              </a:rPr>
              <a:t>,000 </a:t>
            </a:r>
            <a:r>
              <a:rPr sz="1600" dirty="0">
                <a:latin typeface="Arial" pitchFamily="34" charset="0"/>
                <a:cs typeface="Arial" pitchFamily="34" charset="0"/>
              </a:rPr>
              <a:t>BDT</a:t>
            </a:r>
          </a:p>
          <a:p>
            <a:r>
              <a:rPr sz="1600" dirty="0">
                <a:latin typeface="Arial" pitchFamily="34" charset="0"/>
                <a:cs typeface="Arial" pitchFamily="34" charset="0"/>
              </a:rPr>
              <a:t>Infrastructure</a:t>
            </a:r>
            <a:r>
              <a:rPr sz="1600">
                <a:latin typeface="Arial" pitchFamily="34" charset="0"/>
                <a:cs typeface="Arial" pitchFamily="34" charset="0"/>
              </a:rPr>
              <a:t>: </a:t>
            </a:r>
            <a:r>
              <a:rPr sz="1600" smtClean="0">
                <a:latin typeface="Arial" pitchFamily="34" charset="0"/>
                <a:cs typeface="Arial" pitchFamily="34" charset="0"/>
              </a:rPr>
              <a:t>5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0</a:t>
            </a:r>
            <a:r>
              <a:rPr sz="1600" smtClean="0">
                <a:latin typeface="Arial" pitchFamily="34" charset="0"/>
                <a:cs typeface="Arial" pitchFamily="34" charset="0"/>
              </a:rPr>
              <a:t>,000 </a:t>
            </a:r>
            <a:r>
              <a:rPr sz="1600" dirty="0">
                <a:latin typeface="Arial" pitchFamily="34" charset="0"/>
                <a:cs typeface="Arial" pitchFamily="34" charset="0"/>
              </a:rPr>
              <a:t>BDT</a:t>
            </a:r>
          </a:p>
          <a:p>
            <a:r>
              <a:rPr sz="1600" dirty="0">
                <a:latin typeface="Arial" pitchFamily="34" charset="0"/>
                <a:cs typeface="Arial" pitchFamily="34" charset="0"/>
              </a:rPr>
              <a:t>Security</a:t>
            </a:r>
            <a:r>
              <a:rPr sz="1600">
                <a:latin typeface="Arial" pitchFamily="34" charset="0"/>
                <a:cs typeface="Arial" pitchFamily="34" charset="0"/>
              </a:rPr>
              <a:t>: 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1,0</a:t>
            </a:r>
            <a:r>
              <a:rPr sz="1600" smtClean="0">
                <a:latin typeface="Arial" pitchFamily="34" charset="0"/>
                <a:cs typeface="Arial" pitchFamily="34" charset="0"/>
              </a:rPr>
              <a:t>0,000 </a:t>
            </a:r>
            <a:r>
              <a:rPr sz="1600" dirty="0">
                <a:latin typeface="Arial" pitchFamily="34" charset="0"/>
                <a:cs typeface="Arial" pitchFamily="34" charset="0"/>
              </a:rPr>
              <a:t>BDT</a:t>
            </a:r>
          </a:p>
          <a:p>
            <a:r>
              <a:rPr sz="1600" dirty="0">
                <a:latin typeface="Arial" pitchFamily="34" charset="0"/>
                <a:cs typeface="Arial" pitchFamily="34" charset="0"/>
              </a:rPr>
              <a:t>Testing &amp; Deployment</a:t>
            </a:r>
            <a:r>
              <a:rPr sz="1600">
                <a:latin typeface="Arial" pitchFamily="34" charset="0"/>
                <a:cs typeface="Arial" pitchFamily="34" charset="0"/>
              </a:rPr>
              <a:t>: 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7</a:t>
            </a:r>
            <a:r>
              <a:rPr sz="1600" smtClean="0">
                <a:latin typeface="Arial" pitchFamily="34" charset="0"/>
                <a:cs typeface="Arial" pitchFamily="34" charset="0"/>
              </a:rPr>
              <a:t>0,000 </a:t>
            </a:r>
            <a:r>
              <a:rPr sz="1600" dirty="0">
                <a:latin typeface="Arial" pitchFamily="34" charset="0"/>
                <a:cs typeface="Arial" pitchFamily="34" charset="0"/>
              </a:rPr>
              <a:t>BDT</a:t>
            </a:r>
          </a:p>
          <a:p>
            <a:r>
              <a:rPr sz="1600" dirty="0">
                <a:latin typeface="Arial" pitchFamily="34" charset="0"/>
                <a:cs typeface="Arial" pitchFamily="34" charset="0"/>
              </a:rPr>
              <a:t>Maintenance</a:t>
            </a:r>
            <a:r>
              <a:rPr sz="1600">
                <a:latin typeface="Arial" pitchFamily="34" charset="0"/>
                <a:cs typeface="Arial" pitchFamily="34" charset="0"/>
              </a:rPr>
              <a:t>: 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4</a:t>
            </a:r>
            <a:r>
              <a:rPr sz="1600" smtClean="0">
                <a:latin typeface="Arial" pitchFamily="34" charset="0"/>
                <a:cs typeface="Arial" pitchFamily="34" charset="0"/>
              </a:rPr>
              <a:t>0,000 </a:t>
            </a:r>
            <a:r>
              <a:rPr sz="1600" dirty="0">
                <a:latin typeface="Arial" pitchFamily="34" charset="0"/>
                <a:cs typeface="Arial" pitchFamily="34" charset="0"/>
              </a:rPr>
              <a:t>BDT</a:t>
            </a:r>
          </a:p>
          <a:p>
            <a:r>
              <a:rPr sz="1600" dirty="0">
                <a:latin typeface="Arial" pitchFamily="34" charset="0"/>
                <a:cs typeface="Arial" pitchFamily="34" charset="0"/>
              </a:rPr>
              <a:t>Grand Total </a:t>
            </a:r>
            <a:r>
              <a:rPr sz="1600">
                <a:latin typeface="Arial" pitchFamily="34" charset="0"/>
                <a:cs typeface="Arial" pitchFamily="34" charset="0"/>
              </a:rPr>
              <a:t>≈ 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8</a:t>
            </a:r>
            <a:r>
              <a:rPr sz="1600" smtClean="0">
                <a:latin typeface="Arial" pitchFamily="34" charset="0"/>
                <a:cs typeface="Arial" pitchFamily="34" charset="0"/>
              </a:rPr>
              <a:t>,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3</a:t>
            </a:r>
            <a:r>
              <a:rPr sz="1600" smtClean="0">
                <a:latin typeface="Arial" pitchFamily="34" charset="0"/>
                <a:cs typeface="Arial" pitchFamily="34" charset="0"/>
              </a:rPr>
              <a:t>0,000 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BDT</a:t>
            </a:r>
            <a:endParaRPr sz="16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 smtClean="0">
                <a:latin typeface="Arial Black" pitchFamily="34" charset="0"/>
              </a:rPr>
              <a:t>Limitations</a:t>
            </a:r>
            <a:endParaRPr lang="en-US" sz="2800" dirty="0">
              <a:latin typeface="Arial Black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038225" y="3257550"/>
            <a:ext cx="2686050" cy="584773"/>
          </a:xfrm>
          <a:prstGeom prst="rect">
            <a:avLst/>
          </a:prstGeom>
          <a:solidFill>
            <a:srgbClr val="00B0F0"/>
          </a:solidFill>
          <a:ln w="19050" cap="flat">
            <a:solidFill>
              <a:schemeClr val="accent1"/>
            </a:solidFill>
            <a:prstDash val="solid"/>
            <a:round/>
          </a:ln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algn="ctr"/>
            <a:r>
              <a:rPr lang="en-US" sz="1600" b="1" dirty="0" smtClean="0">
                <a:latin typeface="Arial" pitchFamily="34" charset="0"/>
                <a:cs typeface="Arial" pitchFamily="34" charset="0"/>
                <a:sym typeface="Helvetica"/>
              </a:rPr>
              <a:t>Limited </a:t>
            </a:r>
            <a:r>
              <a:rPr lang="en-US" sz="1600" b="1" dirty="0" smtClean="0">
                <a:latin typeface="Arial" pitchFamily="34" charset="0"/>
                <a:cs typeface="Arial" pitchFamily="34" charset="0"/>
                <a:sym typeface="Helvetica"/>
              </a:rPr>
              <a:t>budget(Core </a:t>
            </a:r>
            <a:r>
              <a:rPr lang="en-US" sz="1600" b="1" dirty="0" smtClean="0">
                <a:latin typeface="Arial" pitchFamily="34" charset="0"/>
                <a:cs typeface="Arial" pitchFamily="34" charset="0"/>
                <a:sym typeface="Helvetica"/>
              </a:rPr>
              <a:t>f</a:t>
            </a:r>
            <a:r>
              <a:rPr lang="en-US" sz="1600" b="1" dirty="0" smtClean="0">
                <a:latin typeface="Arial" pitchFamily="34" charset="0"/>
                <a:cs typeface="Arial" pitchFamily="34" charset="0"/>
                <a:sym typeface="Helvetica"/>
              </a:rPr>
              <a:t>eatures </a:t>
            </a:r>
            <a:r>
              <a:rPr lang="en-US" sz="1600" b="1" dirty="0" smtClean="0">
                <a:latin typeface="Arial" pitchFamily="34" charset="0"/>
                <a:cs typeface="Arial" pitchFamily="34" charset="0"/>
                <a:sym typeface="Helvetica"/>
              </a:rPr>
              <a:t>o</a:t>
            </a:r>
            <a:r>
              <a:rPr lang="en-US" sz="1600" b="1" dirty="0" smtClean="0">
                <a:latin typeface="Arial" pitchFamily="34" charset="0"/>
                <a:cs typeface="Arial" pitchFamily="34" charset="0"/>
                <a:sym typeface="Helvetica"/>
              </a:rPr>
              <a:t>nly</a:t>
            </a:r>
            <a:r>
              <a:rPr lang="en-US" sz="1600" b="1" dirty="0" smtClean="0">
                <a:latin typeface="Arial" pitchFamily="34" charset="0"/>
                <a:cs typeface="Arial" pitchFamily="34" charset="0"/>
                <a:sym typeface="Helvetica"/>
              </a:rPr>
              <a:t>)</a:t>
            </a:r>
            <a:endParaRPr kumimoji="0" lang="en-US" sz="16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itchFamily="34" charset="0"/>
              <a:cs typeface="Arial" pitchFamily="34" charset="0"/>
              <a:sym typeface="Georgia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772025" y="3238499"/>
            <a:ext cx="2600325" cy="584773"/>
          </a:xfrm>
          <a:prstGeom prst="rect">
            <a:avLst/>
          </a:prstGeom>
          <a:solidFill>
            <a:srgbClr val="00B050"/>
          </a:solidFill>
          <a:ln w="19050" cap="flat">
            <a:solidFill>
              <a:schemeClr val="accent1"/>
            </a:solidFill>
            <a:prstDash val="solid"/>
            <a:round/>
          </a:ln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itchFamily="34" charset="0"/>
                <a:cs typeface="Arial" pitchFamily="34" charset="0"/>
                <a:sym typeface="Georgia"/>
              </a:rPr>
              <a:t>Web-based only(No mobile app) </a:t>
            </a:r>
            <a:endParaRPr kumimoji="0" lang="en-US" sz="16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itchFamily="34" charset="0"/>
              <a:cs typeface="Arial" pitchFamily="34" charset="0"/>
              <a:sym typeface="Georgia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47750" y="4229099"/>
            <a:ext cx="2638425" cy="584773"/>
          </a:xfrm>
          <a:prstGeom prst="rect">
            <a:avLst/>
          </a:prstGeom>
          <a:solidFill>
            <a:srgbClr val="7030A0"/>
          </a:solidFill>
          <a:ln w="19050" cap="flat">
            <a:solidFill>
              <a:schemeClr val="accent1"/>
            </a:solidFill>
            <a:prstDash val="solid"/>
            <a:round/>
          </a:ln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itchFamily="34" charset="0"/>
                <a:cs typeface="Arial" pitchFamily="34" charset="0"/>
                <a:sym typeface="Georgia"/>
              </a:rPr>
              <a:t>No SMS/Email</a:t>
            </a:r>
            <a:r>
              <a:rPr kumimoji="0" lang="en-US" sz="1600" b="1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itchFamily="34" charset="0"/>
                <a:cs typeface="Arial" pitchFamily="34" charset="0"/>
                <a:sym typeface="Georgia"/>
              </a:rPr>
              <a:t> notifications</a:t>
            </a:r>
            <a:endParaRPr kumimoji="0" lang="en-US" sz="16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itchFamily="34" charset="0"/>
              <a:cs typeface="Arial" pitchFamily="34" charset="0"/>
              <a:sym typeface="Georgia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867275" y="4248150"/>
            <a:ext cx="2590800" cy="584773"/>
          </a:xfrm>
          <a:prstGeom prst="rect">
            <a:avLst/>
          </a:prstGeom>
          <a:solidFill>
            <a:schemeClr val="accent4"/>
          </a:solidFill>
          <a:ln w="19050" cap="flat">
            <a:solidFill>
              <a:schemeClr val="accent1"/>
            </a:solidFill>
            <a:prstDash val="solid"/>
            <a:round/>
          </a:ln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itchFamily="34" charset="0"/>
                <a:cs typeface="Arial" pitchFamily="34" charset="0"/>
                <a:sym typeface="Georgia"/>
              </a:rPr>
              <a:t>Scalability issues at peak time</a:t>
            </a:r>
            <a:endParaRPr kumimoji="0" lang="en-US" sz="16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itchFamily="34" charset="0"/>
              <a:cs typeface="Arial" pitchFamily="34" charset="0"/>
              <a:sym typeface="Georgia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47750" y="5191125"/>
            <a:ext cx="2667000" cy="584773"/>
          </a:xfrm>
          <a:prstGeom prst="rect">
            <a:avLst/>
          </a:prstGeom>
          <a:solidFill>
            <a:schemeClr val="accent1"/>
          </a:solidFill>
          <a:ln w="19050" cap="flat">
            <a:solidFill>
              <a:schemeClr val="accent1"/>
            </a:solidFill>
            <a:prstDash val="solid"/>
            <a:round/>
          </a:ln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itchFamily="34" charset="0"/>
                <a:cs typeface="Arial" pitchFamily="34" charset="0"/>
                <a:sym typeface="Georgia"/>
              </a:rPr>
              <a:t>Internet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b="1" dirty="0" smtClean="0">
                <a:latin typeface="Arial" pitchFamily="34" charset="0"/>
                <a:cs typeface="Arial" pitchFamily="34" charset="0"/>
              </a:rPr>
              <a:t>dependency</a:t>
            </a:r>
            <a:endParaRPr kumimoji="0" lang="en-US" sz="16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itchFamily="34" charset="0"/>
              <a:cs typeface="Arial" pitchFamily="34" charset="0"/>
              <a:sym typeface="Georgia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914900" y="5210175"/>
            <a:ext cx="2600325" cy="584773"/>
          </a:xfrm>
          <a:prstGeom prst="rect">
            <a:avLst/>
          </a:prstGeom>
          <a:solidFill>
            <a:srgbClr val="FF0000"/>
          </a:solidFill>
          <a:ln w="19050" cap="flat">
            <a:solidFill>
              <a:schemeClr val="accent1"/>
            </a:solidFill>
            <a:prstDash val="solid"/>
            <a:round/>
          </a:ln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itchFamily="34" charset="0"/>
                <a:cs typeface="Arial" pitchFamily="34" charset="0"/>
                <a:sym typeface="Georgia"/>
              </a:rPr>
              <a:t>Manual</a:t>
            </a:r>
            <a:r>
              <a:rPr kumimoji="0" lang="en-US" sz="1600" b="1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itchFamily="34" charset="0"/>
                <a:cs typeface="Arial" pitchFamily="34" charset="0"/>
                <a:sym typeface="Georgia"/>
              </a:rPr>
              <a:t> admin approval delays</a:t>
            </a:r>
            <a:endParaRPr kumimoji="0" lang="en-US" sz="16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itchFamily="34" charset="0"/>
              <a:cs typeface="Arial" pitchFamily="34" charset="0"/>
              <a:sym typeface="Georgia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 smtClean="0">
                <a:latin typeface="Arial Black" pitchFamily="34" charset="0"/>
              </a:rPr>
              <a:t>Future Features &amp; Enhancements</a:t>
            </a:r>
            <a:endParaRPr lang="en-US" sz="2800" dirty="0">
              <a:latin typeface="Arial Black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Online Payment System</a:t>
            </a:r>
          </a:p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SMS and Email alerts</a:t>
            </a:r>
          </a:p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Android &amp; </a:t>
            </a:r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ios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 App</a:t>
            </a:r>
          </a:p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Analytical Dashboard</a:t>
            </a:r>
          </a:p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Smart Scheduling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 smtClean="0">
                <a:latin typeface="Arial Black" pitchFamily="34" charset="0"/>
              </a:rPr>
              <a:t>Conclusion</a:t>
            </a:r>
            <a:endParaRPr lang="en-US" sz="2800" dirty="0">
              <a:latin typeface="Arial Black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VersityHub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is a centralized smart campus service management system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It digitizes guest house, hall room, and field booking processes. </a:t>
            </a:r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The system reduces manual paperwork and administrative workload. </a:t>
            </a:r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It ensures transparency, efficiency, and real-time resource management. </a:t>
            </a:r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modular and scalable design makes it suitable for modern 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universities.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2000" b="1" u="sng" dirty="0" smtClean="0">
                <a:latin typeface="Arial" pitchFamily="34" charset="0"/>
                <a:cs typeface="Arial" pitchFamily="34" charset="0"/>
              </a:rPr>
              <a:t>Final </a:t>
            </a:r>
            <a:r>
              <a:rPr lang="en-US" sz="2000" b="1" u="sng" dirty="0" smtClean="0">
                <a:latin typeface="Arial" pitchFamily="34" charset="0"/>
                <a:cs typeface="Arial" pitchFamily="34" charset="0"/>
              </a:rPr>
              <a:t>Statement: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      </a:t>
            </a:r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VersityHub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is a practical and efficient solution for transforming traditional campus management into a smart digital system.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FAE64FE-75A4-A339-E7FA-2D41716D5CFF}"/>
              </a:ext>
            </a:extLst>
          </p:cNvPr>
          <p:cNvSpPr txBox="1"/>
          <p:nvPr/>
        </p:nvSpPr>
        <p:spPr>
          <a:xfrm>
            <a:off x="2588078" y="2921169"/>
            <a:ext cx="3787253" cy="10156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Georgia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2547246" y="2967335"/>
            <a:ext cx="404950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kumimoji="0" lang="en-US" sz="5400" b="1" i="0" u="none" strike="noStrike" cap="none" spc="0" normalizeH="0" baseline="0" dirty="0">
                <a:ln w="18000">
                  <a:noFill/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Georgia"/>
              </a:rPr>
              <a:t>Thank You</a:t>
            </a:r>
            <a:endParaRPr lang="en-US" sz="5400" b="1" cap="none" spc="0" dirty="0">
              <a:ln w="18000">
                <a:noFill/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8910073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Urban">
  <a:themeElements>
    <a:clrScheme name="Urba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0000FF"/>
      </a:hlink>
      <a:folHlink>
        <a:srgbClr val="FF00FF"/>
      </a:folHlink>
    </a:clrScheme>
    <a:fontScheme name="Urban">
      <a:majorFont>
        <a:latin typeface="Georgia"/>
        <a:ea typeface="Georgia"/>
        <a:cs typeface="Georgia"/>
      </a:majorFont>
      <a:minorFont>
        <a:latin typeface="Helvetica"/>
        <a:ea typeface="Helvetica"/>
        <a:cs typeface="Helvetica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>
          <a:outerShdw blurRad="50800" dist="25400" dir="5400000" rotWithShape="0">
            <a:srgbClr val="000000">
              <a:alpha val="4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Georgi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>
          <a:outerShdw blurRad="50800" dist="25400" dir="5400000" rotWithShape="0">
            <a:srgbClr val="000000">
              <a:alpha val="40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Georgi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Urban">
  <a:themeElements>
    <a:clrScheme name="Urba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0000FF"/>
      </a:hlink>
      <a:folHlink>
        <a:srgbClr val="FF00FF"/>
      </a:folHlink>
    </a:clrScheme>
    <a:fontScheme name="Urban">
      <a:majorFont>
        <a:latin typeface="Georgia"/>
        <a:ea typeface="Georgia"/>
        <a:cs typeface="Georgia"/>
      </a:majorFont>
      <a:minorFont>
        <a:latin typeface="Helvetica"/>
        <a:ea typeface="Helvetica"/>
        <a:cs typeface="Helvetica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>
          <a:outerShdw blurRad="50800" dist="25400" dir="5400000" rotWithShape="0">
            <a:srgbClr val="000000">
              <a:alpha val="4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Georgi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>
          <a:outerShdw blurRad="50800" dist="25400" dir="5400000" rotWithShape="0">
            <a:srgbClr val="000000">
              <a:alpha val="40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Georgi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390</Words>
  <Application>Microsoft Office PowerPoint</Application>
  <PresentationFormat>On-screen Show (4:3)</PresentationFormat>
  <Paragraphs>126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Urban</vt:lpstr>
      <vt:lpstr>VersityHub Smart Campus Management System </vt:lpstr>
      <vt:lpstr>VersityHub</vt:lpstr>
      <vt:lpstr>Introduction &amp; Problem Statement</vt:lpstr>
      <vt:lpstr> Problem Statement</vt:lpstr>
      <vt:lpstr>Proposed Solution</vt:lpstr>
      <vt:lpstr>Market Analysis</vt:lpstr>
      <vt:lpstr>Key Features</vt:lpstr>
      <vt:lpstr>System Design</vt:lpstr>
      <vt:lpstr>System Architecture Overview</vt:lpstr>
      <vt:lpstr>Security Design</vt:lpstr>
      <vt:lpstr>Final Budget Summary</vt:lpstr>
      <vt:lpstr>Limitations</vt:lpstr>
      <vt:lpstr>Future Features &amp; Enhancements</vt:lpstr>
      <vt:lpstr>Conclusion</vt:lpstr>
      <vt:lpstr>Slide 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VersityHub Smart Campus Management System</dc:title>
  <dc:creator>Biswadev Biswas</dc:creator>
  <cp:lastModifiedBy>User</cp:lastModifiedBy>
  <cp:revision>22</cp:revision>
  <dcterms:modified xsi:type="dcterms:W3CDTF">2026-02-26T14:38:10Z</dcterms:modified>
</cp:coreProperties>
</file>